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56" r:id="rId3"/>
    <p:sldId id="263" r:id="rId4"/>
    <p:sldId id="275" r:id="rId5"/>
    <p:sldId id="276" r:id="rId6"/>
    <p:sldId id="280"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6B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65" autoAdjust="0"/>
    <p:restoredTop sz="94660"/>
  </p:normalViewPr>
  <p:slideViewPr>
    <p:cSldViewPr snapToGrid="0">
      <p:cViewPr varScale="1">
        <p:scale>
          <a:sx n="76" d="100"/>
          <a:sy n="76" d="100"/>
        </p:scale>
        <p:origin x="480" y="60"/>
      </p:cViewPr>
      <p:guideLst/>
    </p:cSldViewPr>
  </p:slideViewPr>
  <p:notesTextViewPr>
    <p:cViewPr>
      <p:scale>
        <a:sx n="1" d="1"/>
        <a:sy n="1" d="1"/>
      </p:scale>
      <p:origin x="0" y="0"/>
    </p:cViewPr>
  </p:notesTextViewPr>
  <p:notesViewPr>
    <p:cSldViewPr snapToGrid="0">
      <p:cViewPr varScale="1">
        <p:scale>
          <a:sx n="61" d="100"/>
          <a:sy n="61" d="100"/>
        </p:scale>
        <p:origin x="2484" y="7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dk1">
                    <a:lumMod val="75000"/>
                    <a:lumOff val="25000"/>
                  </a:schemeClr>
                </a:solidFill>
                <a:latin typeface="+mn-lt"/>
                <a:ea typeface="+mn-ea"/>
                <a:cs typeface="+mn-cs"/>
              </a:defRPr>
            </a:pPr>
            <a:r>
              <a:t>CHP 2026</a:t>
            </a:r>
          </a:p>
        </c:rich>
      </c:tx>
      <c:layout/>
      <c:overlay val="0"/>
      <c:spPr>
        <a:noFill/>
        <a:ln>
          <a:noFill/>
        </a:ln>
        <a:effectLst/>
      </c:spPr>
    </c:title>
    <c:autoTitleDeleted val="0"/>
    <c:plotArea>
      <c:layout/>
      <c:barChart>
        <c:barDir val="col"/>
        <c:grouping val="clustered"/>
        <c:varyColors val="0"/>
        <c:ser>
          <c:idx val="0"/>
          <c:order val="1"/>
          <c:tx>
            <c:strRef>
              <c:f>Sheet1!$B$1</c:f>
              <c:strCache>
                <c:ptCount val="1"/>
                <c:pt idx="0">
                  <c:v>ACT SALES</c:v>
                </c:pt>
              </c:strCache>
            </c:strRef>
          </c:tx>
          <c:spPr>
            <a:gradFill>
              <a:gsLst>
                <a:gs pos="0">
                  <a:schemeClr val="accent1">
                    <a:hueOff val="-1670000"/>
                  </a:schemeClr>
                </a:gs>
                <a:gs pos="100000">
                  <a:schemeClr val="accent1"/>
                </a:gs>
              </a:gsLst>
              <a:lin ang="5400000" scaled="0"/>
            </a:gradFill>
            <a:ln>
              <a:gradFill>
                <a:gsLst>
                  <a:gs pos="0">
                    <a:schemeClr val="accent1">
                      <a:lumMod val="75000"/>
                      <a:hueOff val="-1670000"/>
                    </a:schemeClr>
                  </a:gs>
                  <a:gs pos="100000">
                    <a:schemeClr val="accent1">
                      <a:lumMod val="75000"/>
                    </a:schemeClr>
                  </a:gs>
                </a:gsLst>
                <a:lin ang="5160000" scaled="1"/>
              </a:gradFill>
            </a:ln>
            <a:effectLst/>
          </c:spPr>
          <c:invertIfNegative val="0"/>
          <c:dLbls>
            <c:delete val="1"/>
          </c:dLbls>
          <c:cat>
            <c:numRef>
              <c:f>Sheet1!$A$2:$A$8</c:f>
              <c:numCache>
                <c:formatCode>mmm\-yy</c:formatCode>
                <c:ptCount val="7"/>
                <c:pt idx="0" c:formatCode="mmm\-yy">
                  <c:v>46023</c:v>
                </c:pt>
                <c:pt idx="1" c:formatCode="mmm\-yy">
                  <c:v>46054</c:v>
                </c:pt>
                <c:pt idx="2" c:formatCode="mmm\-yy">
                  <c:v>46082</c:v>
                </c:pt>
                <c:pt idx="3" c:formatCode="mmm\-yy">
                  <c:v>46113</c:v>
                </c:pt>
                <c:pt idx="4" c:formatCode="mmm\-yy">
                  <c:v>46143</c:v>
                </c:pt>
                <c:pt idx="5" c:formatCode="mmm\-yy">
                  <c:v>46174</c:v>
                </c:pt>
                <c:pt idx="6" c:formatCode="mmm\-yy">
                  <c:v>46204</c:v>
                </c:pt>
              </c:numCache>
            </c:numRef>
          </c:cat>
          <c:val>
            <c:numRef>
              <c:f>Sheet1!$B$2:$B$8</c:f>
              <c:numCache>
                <c:formatCode>_-* #,##0_-;\-* #,##0_-;_-* "-"??_-;_-@_-</c:formatCode>
                <c:ptCount val="7"/>
                <c:pt idx="0">
                  <c:v>3847384.112508</c:v>
                </c:pt>
                <c:pt idx="1">
                  <c:v>4902525.79604613</c:v>
                </c:pt>
                <c:pt idx="2">
                  <c:v>4450115.84346568</c:v>
                </c:pt>
                <c:pt idx="3">
                  <c:v>2801000.12328495</c:v>
                </c:pt>
                <c:pt idx="4">
                  <c:v>2993064.7903617</c:v>
                </c:pt>
                <c:pt idx="5">
                  <c:v>3630090.69737353</c:v>
                </c:pt>
                <c:pt idx="6">
                  <c:v>7155217.59404481</c:v>
                </c:pt>
              </c:numCache>
            </c:numRef>
          </c:val>
        </c:ser>
        <c:ser>
          <c:idx val="2"/>
          <c:order val="2"/>
          <c:tx>
            <c:strRef>
              <c:f>Sheet1!$C$1</c:f>
              <c:strCache>
                <c:ptCount val="1"/>
                <c:pt idx="0">
                  <c:v>TGT SALES</c:v>
                </c:pt>
              </c:strCache>
            </c:strRef>
          </c:tx>
          <c:spPr>
            <a:gradFill>
              <a:gsLst>
                <a:gs pos="0">
                  <a:schemeClr val="accent3">
                    <a:hueOff val="-1670000"/>
                  </a:schemeClr>
                </a:gs>
                <a:gs pos="100000">
                  <a:schemeClr val="accent3"/>
                </a:gs>
              </a:gsLst>
              <a:lin ang="5400000" scaled="0"/>
            </a:gradFill>
            <a:ln>
              <a:gradFill>
                <a:gsLst>
                  <a:gs pos="0">
                    <a:schemeClr val="accent3">
                      <a:lumMod val="75000"/>
                      <a:hueOff val="-1670000"/>
                    </a:schemeClr>
                  </a:gs>
                  <a:gs pos="100000">
                    <a:schemeClr val="accent3">
                      <a:lumMod val="75000"/>
                    </a:schemeClr>
                  </a:gs>
                </a:gsLst>
                <a:lin ang="5160000" scaled="1"/>
              </a:gradFill>
            </a:ln>
            <a:effectLst/>
          </c:spPr>
          <c:invertIfNegative val="0"/>
          <c:dLbls>
            <c:delete val="1"/>
          </c:dLbls>
          <c:cat>
            <c:numRef>
              <c:f>Sheet1!$A$2:$A$8</c:f>
              <c:numCache>
                <c:formatCode>mmm\-yy</c:formatCode>
                <c:ptCount val="7"/>
                <c:pt idx="0" c:formatCode="mmm\-yy">
                  <c:v>46023</c:v>
                </c:pt>
                <c:pt idx="1" c:formatCode="mmm\-yy">
                  <c:v>46054</c:v>
                </c:pt>
                <c:pt idx="2" c:formatCode="mmm\-yy">
                  <c:v>46082</c:v>
                </c:pt>
                <c:pt idx="3" c:formatCode="mmm\-yy">
                  <c:v>46113</c:v>
                </c:pt>
                <c:pt idx="4" c:formatCode="mmm\-yy">
                  <c:v>46143</c:v>
                </c:pt>
                <c:pt idx="5" c:formatCode="mmm\-yy">
                  <c:v>46174</c:v>
                </c:pt>
                <c:pt idx="6" c:formatCode="mmm\-yy">
                  <c:v>46204</c:v>
                </c:pt>
              </c:numCache>
            </c:numRef>
          </c:cat>
          <c:val>
            <c:numRef>
              <c:f>Sheet1!$C$2:$C$8</c:f>
              <c:numCache>
                <c:formatCode>_-* #,##0_-;\-* #,##0_-;_-* "-"??_-;_-@_-</c:formatCode>
                <c:ptCount val="7"/>
                <c:pt idx="0">
                  <c:v>3478128.2</c:v>
                </c:pt>
                <c:pt idx="1">
                  <c:v>4000626.981</c:v>
                </c:pt>
                <c:pt idx="2">
                  <c:v>3687371.003</c:v>
                </c:pt>
                <c:pt idx="3">
                  <c:v>4044229.851</c:v>
                </c:pt>
                <c:pt idx="4">
                  <c:v>3843369.001</c:v>
                </c:pt>
                <c:pt idx="5">
                  <c:v>3895136.317</c:v>
                </c:pt>
                <c:pt idx="6">
                  <c:v>3871944.502</c:v>
                </c:pt>
              </c:numCache>
            </c:numRef>
          </c:val>
        </c:ser>
        <c:dLbls>
          <c:showLegendKey val="0"/>
          <c:showVal val="0"/>
          <c:showCatName val="0"/>
          <c:showSerName val="0"/>
          <c:showPercent val="0"/>
          <c:showBubbleSize val="0"/>
        </c:dLbls>
        <c:gapWidth val="150"/>
        <c:overlap val="0"/>
        <c:axId val="519301108"/>
        <c:axId val="212182162"/>
      </c:barChart>
      <c:lineChart>
        <c:grouping val="standard"/>
        <c:varyColors val="0"/>
        <c:ser>
          <c:idx val="1"/>
          <c:order val="0"/>
          <c:tx>
            <c:strRef>
              <c:f>Sheet1!$D$1</c:f>
              <c:strCache>
                <c:ptCount val="1"/>
                <c:pt idx="0">
                  <c:v>AVG 25</c:v>
                </c:pt>
              </c:strCache>
            </c:strRef>
          </c:tx>
          <c:spPr>
            <a:ln w="28575" cap="rnd">
              <a:gradFill>
                <a:gsLst>
                  <a:gs pos="0">
                    <a:schemeClr val="accent2">
                      <a:hueOff val="-1670000"/>
                    </a:schemeClr>
                  </a:gs>
                  <a:gs pos="100000">
                    <a:schemeClr val="accent2"/>
                  </a:gs>
                </a:gsLst>
                <a:lin ang="5160000" scaled="1"/>
              </a:gradFill>
              <a:round/>
            </a:ln>
            <a:effectLst/>
          </c:spPr>
          <c:marker>
            <c:symbol val="none"/>
          </c:marker>
          <c:dLbls>
            <c:delete val="1"/>
          </c:dLbls>
          <c:cat>
            <c:numRef>
              <c:f>Sheet1!$A$2:$A$8</c:f>
              <c:numCache>
                <c:formatCode>mmm\-yy</c:formatCode>
                <c:ptCount val="7"/>
                <c:pt idx="0" c:formatCode="mmm\-yy">
                  <c:v>46023</c:v>
                </c:pt>
                <c:pt idx="1" c:formatCode="mmm\-yy">
                  <c:v>46054</c:v>
                </c:pt>
                <c:pt idx="2" c:formatCode="mmm\-yy">
                  <c:v>46082</c:v>
                </c:pt>
                <c:pt idx="3" c:formatCode="mmm\-yy">
                  <c:v>46113</c:v>
                </c:pt>
                <c:pt idx="4" c:formatCode="mmm\-yy">
                  <c:v>46143</c:v>
                </c:pt>
                <c:pt idx="5" c:formatCode="mmm\-yy">
                  <c:v>46174</c:v>
                </c:pt>
                <c:pt idx="6" c:formatCode="mmm\-yy">
                  <c:v>46204</c:v>
                </c:pt>
              </c:numCache>
            </c:numRef>
          </c:cat>
          <c:val>
            <c:numRef>
              <c:f>Sheet1!$D$2:$D$8</c:f>
              <c:numCache>
                <c:formatCode>#,###</c:formatCode>
                <c:ptCount val="7"/>
                <c:pt idx="0">
                  <c:v>3424563.11291435</c:v>
                </c:pt>
                <c:pt idx="1">
                  <c:v>3424563.11291435</c:v>
                </c:pt>
                <c:pt idx="2">
                  <c:v>3424563.11291435</c:v>
                </c:pt>
                <c:pt idx="3">
                  <c:v>3424563.11291435</c:v>
                </c:pt>
                <c:pt idx="4">
                  <c:v>3424563.11291435</c:v>
                </c:pt>
                <c:pt idx="5">
                  <c:v>3424563.11291435</c:v>
                </c:pt>
                <c:pt idx="6">
                  <c:v>3424563.11291435</c:v>
                </c:pt>
              </c:numCache>
            </c:numRef>
          </c:val>
          <c:smooth val="0"/>
        </c:ser>
        <c:dLbls>
          <c:showLegendKey val="0"/>
          <c:showVal val="0"/>
          <c:showCatName val="0"/>
          <c:showSerName val="0"/>
          <c:showPercent val="0"/>
          <c:showBubbleSize val="0"/>
        </c:dLbls>
        <c:marker val="0"/>
        <c:smooth val="0"/>
        <c:axId val="519301108"/>
        <c:axId val="212182162"/>
      </c:lineChart>
      <c:dateAx>
        <c:axId val="519301108"/>
        <c:scaling>
          <c:orientation val="minMax"/>
        </c:scaling>
        <c:delete val="0"/>
        <c:axPos val="b"/>
        <c:majorTickMark val="out"/>
        <c:minorTickMark val="none"/>
        <c:tickLblPos val="nextTo"/>
        <c:spPr>
          <a:noFill/>
          <a:ln w="9525" cap="flat" cmpd="sng" algn="ctr">
            <a:solidFill>
              <a:schemeClr val="dk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dk1">
                    <a:lumMod val="65000"/>
                    <a:lumOff val="35000"/>
                  </a:schemeClr>
                </a:solidFill>
                <a:latin typeface="+mn-lt"/>
                <a:ea typeface="+mn-ea"/>
                <a:cs typeface="+mn-cs"/>
              </a:defRPr>
            </a:pPr>
          </a:p>
        </c:txPr>
        <c:crossAx val="212182162"/>
        <c:crosses val="autoZero"/>
        <c:auto val="1"/>
        <c:lblOffset val="100"/>
        <c:baseTimeUnit val="months"/>
      </c:dateAx>
      <c:valAx>
        <c:axId val="212182162"/>
        <c:scaling>
          <c:orientation val="minMax"/>
        </c:scaling>
        <c:delete val="0"/>
        <c:axPos val="l"/>
        <c:majorGridlines>
          <c:spPr>
            <a:ln w="9525" cap="flat" cmpd="sng" algn="ctr">
              <a:solidFill>
                <a:schemeClr val="lt1">
                  <a:lumMod val="90200"/>
                </a:schemeClr>
              </a:solidFill>
              <a:round/>
            </a:ln>
            <a:effectLst/>
          </c:spPr>
        </c:majorGridlines>
        <c:numFmt formatCode="_-* #,##0_-;\-* #,##0_-;_-* &quot;-&quot;??_-;_-@_-"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dk1">
                    <a:lumMod val="65000"/>
                    <a:lumOff val="35000"/>
                  </a:schemeClr>
                </a:solidFill>
                <a:latin typeface="+mn-lt"/>
                <a:ea typeface="+mn-ea"/>
                <a:cs typeface="+mn-cs"/>
              </a:defRPr>
            </a:pPr>
          </a:p>
        </c:txPr>
        <c:crossAx val="519301108"/>
        <c:crosses val="autoZero"/>
        <c:crossBetween val="between"/>
      </c:valAx>
      <c:dTable>
        <c:showHorzBorder val="1"/>
        <c:showVertBorder val="1"/>
        <c:showOutline val="1"/>
        <c:showKeys val="1"/>
        <c:spPr>
          <a:noFill/>
          <a:ln w="9525" cap="flat" cmpd="sng" algn="ctr">
            <a:solidFill>
              <a:schemeClr val="dk1">
                <a:lumMod val="15000"/>
                <a:lumOff val="85000"/>
              </a:schemeClr>
            </a:solidFill>
            <a:round/>
          </a:ln>
          <a:effectLst/>
        </c:spPr>
        <c:txPr>
          <a:bodyPr rot="0" spcFirstLastPara="0" vertOverflow="ellipsis" vert="horz" wrap="square" anchor="ctr" anchorCtr="1"/>
          <a:lstStyle/>
          <a:p>
            <a:pPr>
              <a:defRPr lang="en-US" sz="900" b="0" i="0" u="none" strike="noStrike" kern="1200" baseline="0">
                <a:solidFill>
                  <a:schemeClr val="dk1">
                    <a:lumMod val="65000"/>
                    <a:lumOff val="35000"/>
                  </a:schemeClr>
                </a:solidFill>
                <a:latin typeface="+mn-lt"/>
                <a:ea typeface="+mn-ea"/>
                <a:cs typeface="+mn-cs"/>
              </a:defRPr>
            </a:pPr>
          </a:p>
        </c:txPr>
      </c:dTable>
      <c:spPr>
        <a:noFill/>
        <a:ln>
          <a:noFill/>
        </a:ln>
        <a:effectLst/>
      </c:spPr>
    </c:plotArea>
    <c:plotVisOnly val="1"/>
    <c:dispBlanksAs val="gap"/>
    <c:showDLblsOverMax val="0"/>
    <c:extLst>
      <c:ext uri="{0b15fc19-7d7d-44ad-8c2d-2c3a37ce22c3}">
        <chartProps xmlns="https://web.wps.cn/et/2018/main" chartId="{f4c66d24-78c7-4712-b97f-839c1875427a}"/>
      </c:ext>
    </c:extLst>
  </c:chart>
  <c:spPr>
    <a:noFill/>
    <a:ln w="9525" cap="flat" cmpd="sng" algn="ctr">
      <a:noFill/>
      <a:round/>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KONTRIBUSI POT KUM 2026</a:t>
            </a:r>
          </a:p>
        </c:rich>
      </c:tx>
      <c:layout/>
      <c:overlay val="0"/>
      <c:spPr>
        <a:noFill/>
        <a:ln>
          <a:noFill/>
        </a:ln>
        <a:effectLst/>
      </c:spPr>
    </c:title>
    <c:autoTitleDeleted val="0"/>
    <c:plotArea>
      <c:layout/>
      <c:pieChart>
        <c:varyColors val="1"/>
        <c:ser>
          <c:idx val="0"/>
          <c:order val="0"/>
          <c:tx>
            <c:strRef>
              <c:f>Sheet1!$B$1</c:f>
              <c:strCache>
                <c:ptCount val="1"/>
                <c:pt idx="0">
                  <c:v>KONTRIBUSI</c:v>
                </c:pt>
              </c:strCache>
            </c:strRef>
          </c:tx>
          <c:spPr/>
          <c:explosion val="0"/>
          <c:dPt>
            <c:idx val="0"/>
            <c:bubble3D val="0"/>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dPt>
          <c:dPt>
            <c:idx val="1"/>
            <c:bubble3D val="0"/>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a:outerShdw blurRad="76200" dist="25400" dir="2700000" algn="tl" rotWithShape="0">
                  <a:schemeClr val="accent2">
                    <a:lumMod val="50000"/>
                    <a:alpha val="30000"/>
                  </a:schemeClr>
                </a:outerShdw>
              </a:effectLst>
            </c:spPr>
          </c:dPt>
          <c:dPt>
            <c:idx val="2"/>
            <c:bubble3D val="0"/>
            <c:spPr>
              <a:gradFill>
                <a:gsLst>
                  <a:gs pos="0">
                    <a:schemeClr val="accent3">
                      <a:lumMod val="40000"/>
                      <a:lumOff val="60000"/>
                    </a:schemeClr>
                  </a:gs>
                  <a:gs pos="90000">
                    <a:schemeClr val="accent3"/>
                  </a:gs>
                </a:gsLst>
                <a:lin ang="5400000" scaled="0"/>
              </a:gradFill>
              <a:ln>
                <a:gradFill>
                  <a:gsLst>
                    <a:gs pos="0">
                      <a:schemeClr val="accent3"/>
                    </a:gs>
                    <a:gs pos="100000">
                      <a:schemeClr val="accent3">
                        <a:lumMod val="75000"/>
                      </a:schemeClr>
                    </a:gs>
                  </a:gsLst>
                  <a:lin ang="5400000" scaled="1"/>
                </a:gradFill>
              </a:ln>
              <a:effectLst>
                <a:outerShdw blurRad="76200" dist="25400" dir="2700000" algn="tl" rotWithShape="0">
                  <a:schemeClr val="accent3">
                    <a:lumMod val="50000"/>
                    <a:alpha val="30000"/>
                  </a:schemeClr>
                </a:outerShdw>
              </a:effectLst>
            </c:spPr>
          </c:dPt>
          <c:dPt>
            <c:idx val="3"/>
            <c:bubble3D val="0"/>
            <c:spPr>
              <a:gradFill>
                <a:gsLst>
                  <a:gs pos="0">
                    <a:schemeClr val="accent4">
                      <a:lumMod val="40000"/>
                      <a:lumOff val="60000"/>
                    </a:schemeClr>
                  </a:gs>
                  <a:gs pos="90000">
                    <a:schemeClr val="accent4"/>
                  </a:gs>
                </a:gsLst>
                <a:lin ang="5400000" scaled="0"/>
              </a:gradFill>
              <a:ln>
                <a:gradFill>
                  <a:gsLst>
                    <a:gs pos="0">
                      <a:schemeClr val="accent4"/>
                    </a:gs>
                    <a:gs pos="100000">
                      <a:schemeClr val="accent4">
                        <a:lumMod val="75000"/>
                      </a:schemeClr>
                    </a:gs>
                  </a:gsLst>
                  <a:lin ang="5400000" scaled="1"/>
                </a:gradFill>
              </a:ln>
              <a:effectLst>
                <a:outerShdw blurRad="76200" dist="25400" dir="2700000" algn="tl" rotWithShape="0">
                  <a:schemeClr val="accent4">
                    <a:lumMod val="50000"/>
                    <a:alpha val="30000"/>
                  </a:schemeClr>
                </a:outerShdw>
              </a:effectLst>
            </c:spPr>
          </c:dPt>
          <c:dPt>
            <c:idx val="4"/>
            <c:bubble3D val="0"/>
            <c:spPr>
              <a:gradFill>
                <a:gsLst>
                  <a:gs pos="0">
                    <a:schemeClr val="accent5">
                      <a:lumMod val="40000"/>
                      <a:lumOff val="60000"/>
                    </a:schemeClr>
                  </a:gs>
                  <a:gs pos="90000">
                    <a:schemeClr val="accent5"/>
                  </a:gs>
                </a:gsLst>
                <a:lin ang="5400000" scaled="0"/>
              </a:gradFill>
              <a:ln>
                <a:gradFill>
                  <a:gsLst>
                    <a:gs pos="0">
                      <a:schemeClr val="accent5"/>
                    </a:gs>
                    <a:gs pos="100000">
                      <a:schemeClr val="accent5">
                        <a:lumMod val="75000"/>
                      </a:schemeClr>
                    </a:gs>
                  </a:gsLst>
                  <a:lin ang="5400000" scaled="1"/>
                </a:gradFill>
              </a:ln>
              <a:effectLst>
                <a:outerShdw blurRad="76200" dist="25400" dir="2700000" algn="tl" rotWithShape="0">
                  <a:schemeClr val="accent5">
                    <a:lumMod val="50000"/>
                    <a:alpha val="30000"/>
                  </a:schemeClr>
                </a:outerShdw>
              </a:effectLst>
            </c:spPr>
          </c:dPt>
          <c:dPt>
            <c:idx val="5"/>
            <c:bubble3D val="0"/>
            <c:spPr>
              <a:gradFill>
                <a:gsLst>
                  <a:gs pos="0">
                    <a:schemeClr val="accent6">
                      <a:lumMod val="40000"/>
                      <a:lumOff val="60000"/>
                    </a:schemeClr>
                  </a:gs>
                  <a:gs pos="90000">
                    <a:schemeClr val="accent6"/>
                  </a:gs>
                </a:gsLst>
                <a:lin ang="5400000" scaled="0"/>
              </a:gradFill>
              <a:ln>
                <a:gradFill>
                  <a:gsLst>
                    <a:gs pos="0">
                      <a:schemeClr val="accent6"/>
                    </a:gs>
                    <a:gs pos="100000">
                      <a:schemeClr val="accent6">
                        <a:lumMod val="75000"/>
                      </a:schemeClr>
                    </a:gs>
                  </a:gsLst>
                  <a:lin ang="5400000" scaled="1"/>
                </a:gradFill>
              </a:ln>
              <a:effectLst>
                <a:outerShdw blurRad="76200" dist="25400" dir="2700000" algn="tl" rotWithShape="0">
                  <a:schemeClr val="accent6">
                    <a:lumMod val="50000"/>
                    <a:alpha val="30000"/>
                  </a:schemeClr>
                </a:outerShdw>
              </a:effectLst>
            </c:spPr>
          </c:dPt>
          <c:dPt>
            <c:idx val="6"/>
            <c:bubble3D val="0"/>
            <c:spPr>
              <a:gradFill>
                <a:gsLst>
                  <a:gs pos="0">
                    <a:schemeClr val="accent1">
                      <a:lumMod val="60000"/>
                      <a:lumMod val="40000"/>
                      <a:lumOff val="60000"/>
                    </a:schemeClr>
                  </a:gs>
                  <a:gs pos="90000">
                    <a:schemeClr val="accent1">
                      <a:lumMod val="60000"/>
                    </a:schemeClr>
                  </a:gs>
                </a:gsLst>
                <a:lin ang="5400000" scaled="0"/>
              </a:gradFill>
              <a:ln>
                <a:gradFill>
                  <a:gsLst>
                    <a:gs pos="0">
                      <a:schemeClr val="accent1">
                        <a:lumMod val="60000"/>
                      </a:schemeClr>
                    </a:gs>
                    <a:gs pos="100000">
                      <a:schemeClr val="accent1">
                        <a:lumMod val="60000"/>
                        <a:lumMod val="75000"/>
                      </a:schemeClr>
                    </a:gs>
                  </a:gsLst>
                  <a:lin ang="5400000" scaled="1"/>
                </a:gradFill>
              </a:ln>
              <a:effectLst>
                <a:outerShdw blurRad="76200" dist="25400" dir="2700000" algn="tl" rotWithShape="0">
                  <a:schemeClr val="accent1">
                    <a:lumMod val="60000"/>
                    <a:lumMod val="50000"/>
                    <a:alpha val="30000"/>
                  </a:schemeClr>
                </a:outerShdw>
              </a:effectLst>
            </c:spPr>
          </c:dPt>
          <c:dPt>
            <c:idx val="7"/>
            <c:bubble3D val="0"/>
            <c:spPr>
              <a:gradFill>
                <a:gsLst>
                  <a:gs pos="0">
                    <a:schemeClr val="accent2">
                      <a:lumMod val="60000"/>
                      <a:lumMod val="40000"/>
                      <a:lumOff val="60000"/>
                    </a:schemeClr>
                  </a:gs>
                  <a:gs pos="90000">
                    <a:schemeClr val="accent2">
                      <a:lumMod val="60000"/>
                    </a:schemeClr>
                  </a:gs>
                </a:gsLst>
                <a:lin ang="5400000" scaled="0"/>
              </a:gradFill>
              <a:ln>
                <a:gradFill>
                  <a:gsLst>
                    <a:gs pos="0">
                      <a:schemeClr val="accent2">
                        <a:lumMod val="60000"/>
                      </a:schemeClr>
                    </a:gs>
                    <a:gs pos="100000">
                      <a:schemeClr val="accent2">
                        <a:lumMod val="60000"/>
                        <a:lumMod val="75000"/>
                      </a:schemeClr>
                    </a:gs>
                  </a:gsLst>
                  <a:lin ang="5400000" scaled="1"/>
                </a:gradFill>
              </a:ln>
              <a:effectLst>
                <a:outerShdw blurRad="76200" dist="25400" dir="2700000" algn="tl" rotWithShape="0">
                  <a:schemeClr val="accent2">
                    <a:lumMod val="60000"/>
                    <a:lumMod val="50000"/>
                    <a:alpha val="30000"/>
                  </a:schemeClr>
                </a:outerShdw>
              </a:effectLst>
            </c:spPr>
          </c:dPt>
          <c:dPt>
            <c:idx val="8"/>
            <c:bubble3D val="0"/>
            <c:spPr>
              <a:gradFill>
                <a:gsLst>
                  <a:gs pos="0">
                    <a:schemeClr val="accent3">
                      <a:lumMod val="60000"/>
                      <a:lumMod val="40000"/>
                      <a:lumOff val="60000"/>
                    </a:schemeClr>
                  </a:gs>
                  <a:gs pos="90000">
                    <a:schemeClr val="accent3">
                      <a:lumMod val="60000"/>
                    </a:schemeClr>
                  </a:gs>
                </a:gsLst>
                <a:lin ang="5400000" scaled="0"/>
              </a:gradFill>
              <a:ln>
                <a:gradFill>
                  <a:gsLst>
                    <a:gs pos="0">
                      <a:schemeClr val="accent3">
                        <a:lumMod val="60000"/>
                      </a:schemeClr>
                    </a:gs>
                    <a:gs pos="100000">
                      <a:schemeClr val="accent3">
                        <a:lumMod val="60000"/>
                        <a:lumMod val="75000"/>
                      </a:schemeClr>
                    </a:gs>
                  </a:gsLst>
                  <a:lin ang="5400000" scaled="1"/>
                </a:gradFill>
              </a:ln>
              <a:effectLst>
                <a:outerShdw blurRad="76200" dist="25400" dir="2700000" algn="tl" rotWithShape="0">
                  <a:schemeClr val="accent3">
                    <a:lumMod val="60000"/>
                    <a:lumMod val="50000"/>
                    <a:alpha val="30000"/>
                  </a:schemeClr>
                </a:outerShdw>
              </a:effectLst>
            </c:spPr>
          </c:dPt>
          <c:dPt>
            <c:idx val="9"/>
            <c:bubble3D val="0"/>
            <c:spPr>
              <a:gradFill>
                <a:gsLst>
                  <a:gs pos="0">
                    <a:schemeClr val="accent4">
                      <a:lumMod val="60000"/>
                      <a:lumMod val="40000"/>
                      <a:lumOff val="60000"/>
                    </a:schemeClr>
                  </a:gs>
                  <a:gs pos="90000">
                    <a:schemeClr val="accent4">
                      <a:lumMod val="60000"/>
                    </a:schemeClr>
                  </a:gs>
                </a:gsLst>
                <a:lin ang="5400000" scaled="0"/>
              </a:gradFill>
              <a:ln>
                <a:gradFill>
                  <a:gsLst>
                    <a:gs pos="0">
                      <a:schemeClr val="accent4">
                        <a:lumMod val="60000"/>
                      </a:schemeClr>
                    </a:gs>
                    <a:gs pos="100000">
                      <a:schemeClr val="accent4">
                        <a:lumMod val="60000"/>
                        <a:lumMod val="75000"/>
                      </a:schemeClr>
                    </a:gs>
                  </a:gsLst>
                  <a:lin ang="5400000" scaled="1"/>
                </a:gradFill>
              </a:ln>
              <a:effectLst>
                <a:outerShdw blurRad="76200" dist="25400" dir="2700000" algn="tl" rotWithShape="0">
                  <a:schemeClr val="accent4">
                    <a:lumMod val="60000"/>
                    <a:lumMod val="50000"/>
                    <a:alpha val="30000"/>
                  </a:schemeClr>
                </a:outerShdw>
              </a:effectLst>
            </c:spPr>
          </c:dPt>
          <c:dPt>
            <c:idx val="10"/>
            <c:bubble3D val="0"/>
            <c:spPr>
              <a:gradFill>
                <a:gsLst>
                  <a:gs pos="0">
                    <a:schemeClr val="accent5">
                      <a:lumMod val="60000"/>
                      <a:lumMod val="40000"/>
                      <a:lumOff val="60000"/>
                    </a:schemeClr>
                  </a:gs>
                  <a:gs pos="90000">
                    <a:schemeClr val="accent5">
                      <a:lumMod val="60000"/>
                    </a:schemeClr>
                  </a:gs>
                </a:gsLst>
                <a:lin ang="5400000" scaled="0"/>
              </a:gradFill>
              <a:ln>
                <a:gradFill>
                  <a:gsLst>
                    <a:gs pos="0">
                      <a:schemeClr val="accent5">
                        <a:lumMod val="60000"/>
                      </a:schemeClr>
                    </a:gs>
                    <a:gs pos="100000">
                      <a:schemeClr val="accent5">
                        <a:lumMod val="60000"/>
                        <a:lumMod val="75000"/>
                      </a:schemeClr>
                    </a:gs>
                  </a:gsLst>
                  <a:lin ang="5400000" scaled="1"/>
                </a:gradFill>
              </a:ln>
              <a:effectLst>
                <a:outerShdw blurRad="76200" dist="25400" dir="2700000" algn="tl" rotWithShape="0">
                  <a:schemeClr val="accent5">
                    <a:lumMod val="60000"/>
                    <a:lumMod val="50000"/>
                    <a:alpha val="30000"/>
                  </a:schemeClr>
                </a:outerShdw>
              </a:effectLst>
            </c:spPr>
          </c:dPt>
          <c:dPt>
            <c:idx val="11"/>
            <c:bubble3D val="0"/>
            <c:spPr>
              <a:gradFill>
                <a:gsLst>
                  <a:gs pos="0">
                    <a:schemeClr val="accent6">
                      <a:lumMod val="60000"/>
                      <a:lumMod val="40000"/>
                      <a:lumOff val="60000"/>
                    </a:schemeClr>
                  </a:gs>
                  <a:gs pos="90000">
                    <a:schemeClr val="accent6">
                      <a:lumMod val="60000"/>
                    </a:schemeClr>
                  </a:gs>
                </a:gsLst>
                <a:lin ang="5400000" scaled="0"/>
              </a:gradFill>
              <a:ln>
                <a:gradFill>
                  <a:gsLst>
                    <a:gs pos="0">
                      <a:schemeClr val="accent6">
                        <a:lumMod val="60000"/>
                      </a:schemeClr>
                    </a:gs>
                    <a:gs pos="100000">
                      <a:schemeClr val="accent6">
                        <a:lumMod val="60000"/>
                        <a:lumMod val="75000"/>
                      </a:schemeClr>
                    </a:gs>
                  </a:gsLst>
                  <a:lin ang="5400000" scaled="1"/>
                </a:gradFill>
              </a:ln>
              <a:effectLst>
                <a:outerShdw blurRad="76200" dist="25400" dir="2700000" algn="tl" rotWithShape="0">
                  <a:schemeClr val="accent6">
                    <a:lumMod val="60000"/>
                    <a:lumMod val="50000"/>
                    <a:alpha val="30000"/>
                  </a:schemeClr>
                </a:outerShdw>
              </a:effectLst>
            </c:spPr>
          </c:dPt>
          <c:dPt>
            <c:idx val="12"/>
            <c:bubble3D val="0"/>
            <c:spPr>
              <a:gradFill>
                <a:gsLst>
                  <a:gs pos="0">
                    <a:schemeClr val="accent1">
                      <a:lumMod val="80000"/>
                      <a:lumOff val="20000"/>
                      <a:lumMod val="40000"/>
                      <a:lumOff val="60000"/>
                    </a:schemeClr>
                  </a:gs>
                  <a:gs pos="90000">
                    <a:schemeClr val="accent1">
                      <a:lumMod val="80000"/>
                      <a:lumOff val="20000"/>
                    </a:schemeClr>
                  </a:gs>
                </a:gsLst>
                <a:lin ang="5400000" scaled="0"/>
              </a:gradFill>
              <a:ln>
                <a:gradFill>
                  <a:gsLst>
                    <a:gs pos="0">
                      <a:schemeClr val="accent1">
                        <a:lumMod val="80000"/>
                        <a:lumOff val="20000"/>
                      </a:schemeClr>
                    </a:gs>
                    <a:gs pos="100000">
                      <a:schemeClr val="accent1">
                        <a:lumMod val="80000"/>
                        <a:lumOff val="20000"/>
                        <a:lumMod val="75000"/>
                      </a:schemeClr>
                    </a:gs>
                  </a:gsLst>
                  <a:lin ang="5400000" scaled="1"/>
                </a:gradFill>
              </a:ln>
              <a:effectLst>
                <a:outerShdw blurRad="76200" dist="25400" dir="2700000" algn="tl" rotWithShape="0">
                  <a:schemeClr val="accent1">
                    <a:lumMod val="80000"/>
                    <a:lumOff val="20000"/>
                    <a:lumMod val="50000"/>
                    <a:alpha val="30000"/>
                  </a:schemeClr>
                </a:outerShdw>
              </a:effectLst>
            </c:spPr>
          </c:dPt>
          <c:dPt>
            <c:idx val="13"/>
            <c:bubble3D val="0"/>
            <c:spPr>
              <a:gradFill>
                <a:gsLst>
                  <a:gs pos="0">
                    <a:schemeClr val="accent2">
                      <a:lumMod val="80000"/>
                      <a:lumOff val="20000"/>
                      <a:lumMod val="40000"/>
                      <a:lumOff val="60000"/>
                    </a:schemeClr>
                  </a:gs>
                  <a:gs pos="90000">
                    <a:schemeClr val="accent2">
                      <a:lumMod val="80000"/>
                      <a:lumOff val="20000"/>
                    </a:schemeClr>
                  </a:gs>
                </a:gsLst>
                <a:lin ang="5400000" scaled="0"/>
              </a:gradFill>
              <a:ln>
                <a:gradFill>
                  <a:gsLst>
                    <a:gs pos="0">
                      <a:schemeClr val="accent2">
                        <a:lumMod val="80000"/>
                        <a:lumOff val="20000"/>
                      </a:schemeClr>
                    </a:gs>
                    <a:gs pos="100000">
                      <a:schemeClr val="accent2">
                        <a:lumMod val="80000"/>
                        <a:lumOff val="20000"/>
                        <a:lumMod val="75000"/>
                      </a:schemeClr>
                    </a:gs>
                  </a:gsLst>
                  <a:lin ang="5400000" scaled="1"/>
                </a:gradFill>
              </a:ln>
              <a:effectLst>
                <a:outerShdw blurRad="76200" dist="25400" dir="2700000" algn="tl" rotWithShape="0">
                  <a:schemeClr val="accent2">
                    <a:lumMod val="80000"/>
                    <a:lumOff val="20000"/>
                    <a:lumMod val="50000"/>
                    <a:alpha val="30000"/>
                  </a:schemeClr>
                </a:outerShdw>
              </a:effectLst>
            </c:spPr>
          </c:dPt>
          <c:dPt>
            <c:idx val="14"/>
            <c:bubble3D val="0"/>
            <c:spPr>
              <a:gradFill>
                <a:gsLst>
                  <a:gs pos="0">
                    <a:schemeClr val="accent3">
                      <a:lumMod val="80000"/>
                      <a:lumOff val="20000"/>
                      <a:lumMod val="40000"/>
                      <a:lumOff val="60000"/>
                    </a:schemeClr>
                  </a:gs>
                  <a:gs pos="90000">
                    <a:schemeClr val="accent3">
                      <a:lumMod val="80000"/>
                      <a:lumOff val="20000"/>
                    </a:schemeClr>
                  </a:gs>
                </a:gsLst>
                <a:lin ang="5400000" scaled="0"/>
              </a:gradFill>
              <a:ln>
                <a:gradFill>
                  <a:gsLst>
                    <a:gs pos="0">
                      <a:schemeClr val="accent3">
                        <a:lumMod val="80000"/>
                        <a:lumOff val="20000"/>
                      </a:schemeClr>
                    </a:gs>
                    <a:gs pos="100000">
                      <a:schemeClr val="accent3">
                        <a:lumMod val="80000"/>
                        <a:lumOff val="20000"/>
                        <a:lumMod val="75000"/>
                      </a:schemeClr>
                    </a:gs>
                  </a:gsLst>
                  <a:lin ang="5400000" scaled="1"/>
                </a:gradFill>
              </a:ln>
              <a:effectLst>
                <a:outerShdw blurRad="76200" dist="25400" dir="2700000" algn="tl" rotWithShape="0">
                  <a:schemeClr val="accent3">
                    <a:lumMod val="80000"/>
                    <a:lumOff val="20000"/>
                    <a:lumMod val="50000"/>
                    <a:alpha val="30000"/>
                  </a:schemeClr>
                </a:outerShdw>
              </a:effectLst>
            </c:spPr>
          </c:dPt>
          <c:dPt>
            <c:idx val="15"/>
            <c:bubble3D val="0"/>
            <c:spPr>
              <a:gradFill>
                <a:gsLst>
                  <a:gs pos="0">
                    <a:schemeClr val="accent4">
                      <a:lumMod val="80000"/>
                      <a:lumOff val="20000"/>
                      <a:lumMod val="40000"/>
                      <a:lumOff val="60000"/>
                    </a:schemeClr>
                  </a:gs>
                  <a:gs pos="90000">
                    <a:schemeClr val="accent4">
                      <a:lumMod val="80000"/>
                      <a:lumOff val="20000"/>
                    </a:schemeClr>
                  </a:gs>
                </a:gsLst>
                <a:lin ang="5400000" scaled="0"/>
              </a:gradFill>
              <a:ln>
                <a:gradFill>
                  <a:gsLst>
                    <a:gs pos="0">
                      <a:schemeClr val="accent4">
                        <a:lumMod val="80000"/>
                        <a:lumOff val="20000"/>
                      </a:schemeClr>
                    </a:gs>
                    <a:gs pos="100000">
                      <a:schemeClr val="accent4">
                        <a:lumMod val="80000"/>
                        <a:lumOff val="20000"/>
                        <a:lumMod val="75000"/>
                      </a:schemeClr>
                    </a:gs>
                  </a:gsLst>
                  <a:lin ang="5400000" scaled="1"/>
                </a:gradFill>
              </a:ln>
              <a:effectLst>
                <a:outerShdw blurRad="76200" dist="25400" dir="2700000" algn="tl" rotWithShape="0">
                  <a:schemeClr val="accent4">
                    <a:lumMod val="80000"/>
                    <a:lumOff val="20000"/>
                    <a:lumMod val="50000"/>
                    <a:alpha val="30000"/>
                  </a:schemeClr>
                </a:outerShdw>
              </a:effectLst>
            </c:spPr>
          </c:dPt>
          <c:dPt>
            <c:idx val="16"/>
            <c:bubble3D val="0"/>
            <c:spPr>
              <a:gradFill>
                <a:gsLst>
                  <a:gs pos="0">
                    <a:schemeClr val="accent5">
                      <a:lumMod val="80000"/>
                      <a:lumOff val="20000"/>
                      <a:lumMod val="40000"/>
                      <a:lumOff val="60000"/>
                    </a:schemeClr>
                  </a:gs>
                  <a:gs pos="90000">
                    <a:schemeClr val="accent5">
                      <a:lumMod val="80000"/>
                      <a:lumOff val="20000"/>
                    </a:schemeClr>
                  </a:gs>
                </a:gsLst>
                <a:lin ang="5400000" scaled="0"/>
              </a:gradFill>
              <a:ln>
                <a:gradFill>
                  <a:gsLst>
                    <a:gs pos="0">
                      <a:schemeClr val="accent5">
                        <a:lumMod val="80000"/>
                        <a:lumOff val="20000"/>
                      </a:schemeClr>
                    </a:gs>
                    <a:gs pos="100000">
                      <a:schemeClr val="accent5">
                        <a:lumMod val="80000"/>
                        <a:lumOff val="20000"/>
                        <a:lumMod val="75000"/>
                      </a:schemeClr>
                    </a:gs>
                  </a:gsLst>
                  <a:lin ang="5400000" scaled="1"/>
                </a:gradFill>
              </a:ln>
              <a:effectLst>
                <a:outerShdw blurRad="76200" dist="25400" dir="2700000" algn="tl" rotWithShape="0">
                  <a:schemeClr val="accent5">
                    <a:lumMod val="80000"/>
                    <a:lumOff val="20000"/>
                    <a:lumMod val="50000"/>
                    <a:alpha val="30000"/>
                  </a:schemeClr>
                </a:outerShdw>
              </a:effectLst>
            </c:spPr>
          </c:dPt>
          <c:dPt>
            <c:idx val="17"/>
            <c:bubble3D val="0"/>
            <c:spPr>
              <a:gradFill>
                <a:gsLst>
                  <a:gs pos="0">
                    <a:schemeClr val="accent6">
                      <a:lumMod val="80000"/>
                      <a:lumOff val="20000"/>
                      <a:lumMod val="40000"/>
                      <a:lumOff val="60000"/>
                    </a:schemeClr>
                  </a:gs>
                  <a:gs pos="90000">
                    <a:schemeClr val="accent6">
                      <a:lumMod val="80000"/>
                      <a:lumOff val="20000"/>
                    </a:schemeClr>
                  </a:gs>
                </a:gsLst>
                <a:lin ang="5400000" scaled="0"/>
              </a:gradFill>
              <a:ln>
                <a:gradFill>
                  <a:gsLst>
                    <a:gs pos="0">
                      <a:schemeClr val="accent6">
                        <a:lumMod val="80000"/>
                        <a:lumOff val="20000"/>
                      </a:schemeClr>
                    </a:gs>
                    <a:gs pos="100000">
                      <a:schemeClr val="accent6">
                        <a:lumMod val="80000"/>
                        <a:lumOff val="20000"/>
                        <a:lumMod val="75000"/>
                      </a:schemeClr>
                    </a:gs>
                  </a:gsLst>
                  <a:lin ang="5400000" scaled="1"/>
                </a:gradFill>
              </a:ln>
              <a:effectLst>
                <a:outerShdw blurRad="76200" dist="25400" dir="2700000" algn="tl" rotWithShape="0">
                  <a:schemeClr val="accent6">
                    <a:lumMod val="80000"/>
                    <a:lumOff val="20000"/>
                    <a:lumMod val="50000"/>
                    <a:alpha val="30000"/>
                  </a:schemeClr>
                </a:outerShdw>
              </a:effectLst>
            </c:spPr>
          </c:dPt>
          <c:dPt>
            <c:idx val="18"/>
            <c:bubble3D val="0"/>
            <c:spPr>
              <a:gradFill>
                <a:gsLst>
                  <a:gs pos="0">
                    <a:schemeClr val="accent1">
                      <a:lumMod val="80000"/>
                      <a:lumMod val="40000"/>
                      <a:lumOff val="60000"/>
                    </a:schemeClr>
                  </a:gs>
                  <a:gs pos="90000">
                    <a:schemeClr val="accent1">
                      <a:lumMod val="80000"/>
                    </a:schemeClr>
                  </a:gs>
                </a:gsLst>
                <a:lin ang="5400000" scaled="0"/>
              </a:gradFill>
              <a:ln>
                <a:gradFill>
                  <a:gsLst>
                    <a:gs pos="0">
                      <a:schemeClr val="accent1">
                        <a:lumMod val="80000"/>
                      </a:schemeClr>
                    </a:gs>
                    <a:gs pos="100000">
                      <a:schemeClr val="accent1">
                        <a:lumMod val="80000"/>
                        <a:lumMod val="75000"/>
                      </a:schemeClr>
                    </a:gs>
                  </a:gsLst>
                  <a:lin ang="5400000" scaled="1"/>
                </a:gradFill>
              </a:ln>
              <a:effectLst>
                <a:outerShdw blurRad="76200" dist="25400" dir="2700000" algn="tl" rotWithShape="0">
                  <a:schemeClr val="accent1">
                    <a:lumMod val="80000"/>
                    <a:lumMod val="50000"/>
                    <a:alpha val="30000"/>
                  </a:schemeClr>
                </a:outerShdw>
              </a:effectLst>
            </c:spPr>
          </c:dPt>
          <c:dPt>
            <c:idx val="19"/>
            <c:bubble3D val="0"/>
            <c:spPr>
              <a:gradFill>
                <a:gsLst>
                  <a:gs pos="0">
                    <a:schemeClr val="accent2">
                      <a:lumMod val="80000"/>
                      <a:lumMod val="40000"/>
                      <a:lumOff val="60000"/>
                    </a:schemeClr>
                  </a:gs>
                  <a:gs pos="90000">
                    <a:schemeClr val="accent2">
                      <a:lumMod val="80000"/>
                    </a:schemeClr>
                  </a:gs>
                </a:gsLst>
                <a:lin ang="5400000" scaled="0"/>
              </a:gradFill>
              <a:ln>
                <a:gradFill>
                  <a:gsLst>
                    <a:gs pos="0">
                      <a:schemeClr val="accent2">
                        <a:lumMod val="80000"/>
                      </a:schemeClr>
                    </a:gs>
                    <a:gs pos="100000">
                      <a:schemeClr val="accent2">
                        <a:lumMod val="80000"/>
                        <a:lumMod val="75000"/>
                      </a:schemeClr>
                    </a:gs>
                  </a:gsLst>
                  <a:lin ang="5400000" scaled="1"/>
                </a:gradFill>
              </a:ln>
              <a:effectLst>
                <a:outerShdw blurRad="76200" dist="25400" dir="2700000" algn="tl" rotWithShape="0">
                  <a:schemeClr val="accent2">
                    <a:lumMod val="80000"/>
                    <a:lumMod val="50000"/>
                    <a:alpha val="30000"/>
                  </a:schemeClr>
                </a:outerShdw>
              </a:effectLst>
            </c:spPr>
          </c:dPt>
          <c:dPt>
            <c:idx val="20"/>
            <c:bubble3D val="0"/>
            <c:spPr>
              <a:gradFill>
                <a:gsLst>
                  <a:gs pos="0">
                    <a:schemeClr val="accent3">
                      <a:lumMod val="80000"/>
                      <a:lumMod val="40000"/>
                      <a:lumOff val="60000"/>
                    </a:schemeClr>
                  </a:gs>
                  <a:gs pos="90000">
                    <a:schemeClr val="accent3">
                      <a:lumMod val="80000"/>
                    </a:schemeClr>
                  </a:gs>
                </a:gsLst>
                <a:lin ang="5400000" scaled="0"/>
              </a:gradFill>
              <a:ln>
                <a:gradFill>
                  <a:gsLst>
                    <a:gs pos="0">
                      <a:schemeClr val="accent3">
                        <a:lumMod val="80000"/>
                      </a:schemeClr>
                    </a:gs>
                    <a:gs pos="100000">
                      <a:schemeClr val="accent3">
                        <a:lumMod val="80000"/>
                        <a:lumMod val="75000"/>
                      </a:schemeClr>
                    </a:gs>
                  </a:gsLst>
                  <a:lin ang="5400000" scaled="1"/>
                </a:gradFill>
              </a:ln>
              <a:effectLst>
                <a:outerShdw blurRad="76200" dist="25400" dir="2700000" algn="tl" rotWithShape="0">
                  <a:schemeClr val="accent3">
                    <a:lumMod val="80000"/>
                    <a:lumMod val="50000"/>
                    <a:alpha val="30000"/>
                  </a:schemeClr>
                </a:outerShdw>
              </a:effectLst>
            </c:spPr>
          </c:dPt>
          <c:dPt>
            <c:idx val="21"/>
            <c:bubble3D val="0"/>
            <c:spPr>
              <a:gradFill>
                <a:gsLst>
                  <a:gs pos="0">
                    <a:schemeClr val="accent4">
                      <a:lumMod val="80000"/>
                      <a:lumMod val="40000"/>
                      <a:lumOff val="60000"/>
                    </a:schemeClr>
                  </a:gs>
                  <a:gs pos="90000">
                    <a:schemeClr val="accent4">
                      <a:lumMod val="80000"/>
                    </a:schemeClr>
                  </a:gs>
                </a:gsLst>
                <a:lin ang="5400000" scaled="0"/>
              </a:gradFill>
              <a:ln>
                <a:gradFill>
                  <a:gsLst>
                    <a:gs pos="0">
                      <a:schemeClr val="accent4">
                        <a:lumMod val="80000"/>
                      </a:schemeClr>
                    </a:gs>
                    <a:gs pos="100000">
                      <a:schemeClr val="accent4">
                        <a:lumMod val="80000"/>
                        <a:lumMod val="75000"/>
                      </a:schemeClr>
                    </a:gs>
                  </a:gsLst>
                  <a:lin ang="5400000" scaled="1"/>
                </a:gradFill>
              </a:ln>
              <a:effectLst>
                <a:outerShdw blurRad="76200" dist="25400" dir="2700000" algn="tl" rotWithShape="0">
                  <a:schemeClr val="accent4">
                    <a:lumMod val="80000"/>
                    <a:lumMod val="50000"/>
                    <a:alpha val="30000"/>
                  </a:schemeClr>
                </a:outerShdw>
              </a:effectLst>
            </c:spPr>
          </c:dPt>
          <c:dPt>
            <c:idx val="22"/>
            <c:bubble3D val="0"/>
            <c:spPr>
              <a:gradFill>
                <a:gsLst>
                  <a:gs pos="0">
                    <a:schemeClr val="accent5">
                      <a:lumMod val="80000"/>
                      <a:lumMod val="40000"/>
                      <a:lumOff val="60000"/>
                    </a:schemeClr>
                  </a:gs>
                  <a:gs pos="90000">
                    <a:schemeClr val="accent5">
                      <a:lumMod val="80000"/>
                    </a:schemeClr>
                  </a:gs>
                </a:gsLst>
                <a:lin ang="5400000" scaled="0"/>
              </a:gradFill>
              <a:ln>
                <a:gradFill>
                  <a:gsLst>
                    <a:gs pos="0">
                      <a:schemeClr val="accent5">
                        <a:lumMod val="80000"/>
                      </a:schemeClr>
                    </a:gs>
                    <a:gs pos="100000">
                      <a:schemeClr val="accent5">
                        <a:lumMod val="80000"/>
                        <a:lumMod val="75000"/>
                      </a:schemeClr>
                    </a:gs>
                  </a:gsLst>
                  <a:lin ang="5400000" scaled="1"/>
                </a:gradFill>
              </a:ln>
              <a:effectLst>
                <a:outerShdw blurRad="76200" dist="25400" dir="2700000" algn="tl" rotWithShape="0">
                  <a:schemeClr val="accent5">
                    <a:lumMod val="80000"/>
                    <a:lumMod val="50000"/>
                    <a:alpha val="30000"/>
                  </a:schemeClr>
                </a:outerShdw>
              </a:effectLst>
            </c:spPr>
          </c:dPt>
          <c:dPt>
            <c:idx val="23"/>
            <c:bubble3D val="0"/>
            <c:spPr>
              <a:gradFill>
                <a:gsLst>
                  <a:gs pos="0">
                    <a:schemeClr val="accent6">
                      <a:lumMod val="80000"/>
                      <a:lumMod val="40000"/>
                      <a:lumOff val="60000"/>
                    </a:schemeClr>
                  </a:gs>
                  <a:gs pos="90000">
                    <a:schemeClr val="accent6">
                      <a:lumMod val="80000"/>
                    </a:schemeClr>
                  </a:gs>
                </a:gsLst>
                <a:lin ang="5400000" scaled="0"/>
              </a:gradFill>
              <a:ln>
                <a:gradFill>
                  <a:gsLst>
                    <a:gs pos="0">
                      <a:schemeClr val="accent6">
                        <a:lumMod val="80000"/>
                      </a:schemeClr>
                    </a:gs>
                    <a:gs pos="100000">
                      <a:schemeClr val="accent6">
                        <a:lumMod val="80000"/>
                        <a:lumMod val="75000"/>
                      </a:schemeClr>
                    </a:gs>
                  </a:gsLst>
                  <a:lin ang="5400000" scaled="1"/>
                </a:gradFill>
              </a:ln>
              <a:effectLst>
                <a:outerShdw blurRad="76200" dist="25400" dir="2700000" algn="tl" rotWithShape="0">
                  <a:schemeClr val="accent6">
                    <a:lumMod val="80000"/>
                    <a:lumMod val="50000"/>
                    <a:alpha val="30000"/>
                  </a:schemeClr>
                </a:outerShdw>
              </a:effectLst>
            </c:spPr>
          </c:dPt>
          <c:dLbls>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lumMod val="75000"/>
                        <a:lumOff val="25000"/>
                      </a:schemeClr>
                    </a:solidFill>
                    <a:latin typeface="+mn-lt"/>
                    <a:ea typeface="+mn-ea"/>
                    <a:cs typeface="+mn-cs"/>
                  </a:defRPr>
                </a:pPr>
              </a:p>
            </c:txPr>
            <c:dLblPos val="bestFit"/>
            <c:showLegendKey val="0"/>
            <c:showVal val="0"/>
            <c:showCatName val="1"/>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Sheet1!$A$2:$A$25</c:f>
              <c:strCache>
                <c:ptCount val="24"/>
                <c:pt idx="0">
                  <c:v>DEC</c:v>
                </c:pt>
                <c:pt idx="1">
                  <c:v>ABI</c:v>
                </c:pt>
                <c:pt idx="2">
                  <c:v>ACP</c:v>
                </c:pt>
                <c:pt idx="3">
                  <c:v>BCH</c:v>
                </c:pt>
                <c:pt idx="4">
                  <c:v>BKK</c:v>
                </c:pt>
                <c:pt idx="5">
                  <c:v>CHD</c:v>
                </c:pt>
                <c:pt idx="6">
                  <c:v>CHW</c:v>
                </c:pt>
                <c:pt idx="7">
                  <c:v>DSB</c:v>
                </c:pt>
                <c:pt idx="8">
                  <c:v>GNT</c:v>
                </c:pt>
                <c:pt idx="9">
                  <c:v>HIP</c:v>
                </c:pt>
                <c:pt idx="10">
                  <c:v>HUT</c:v>
                </c:pt>
                <c:pt idx="11">
                  <c:v>HYC</c:v>
                </c:pt>
                <c:pt idx="12">
                  <c:v>J99</c:v>
                </c:pt>
                <c:pt idx="13">
                  <c:v>JNB</c:v>
                </c:pt>
                <c:pt idx="14">
                  <c:v>LJO</c:v>
                </c:pt>
                <c:pt idx="15">
                  <c:v>LOC</c:v>
                </c:pt>
                <c:pt idx="16">
                  <c:v>MCS</c:v>
                </c:pt>
                <c:pt idx="17">
                  <c:v>NHS</c:v>
                </c:pt>
                <c:pt idx="18">
                  <c:v>NLI</c:v>
                </c:pt>
                <c:pt idx="19">
                  <c:v>PDB</c:v>
                </c:pt>
                <c:pt idx="20">
                  <c:v>PHC</c:v>
                </c:pt>
                <c:pt idx="21">
                  <c:v>SRS</c:v>
                </c:pt>
                <c:pt idx="22">
                  <c:v>SSW</c:v>
                </c:pt>
                <c:pt idx="23">
                  <c:v>YOU</c:v>
                </c:pt>
              </c:strCache>
            </c:strRef>
          </c:cat>
          <c:val>
            <c:numRef>
              <c:f>Sheet1!$B$2:$B$25</c:f>
              <c:numCache>
                <c:formatCode>0%</c:formatCode>
                <c:ptCount val="24"/>
                <c:pt idx="0">
                  <c:v>0.000103989674353829</c:v>
                </c:pt>
                <c:pt idx="1">
                  <c:v>0.0444450842203825</c:v>
                </c:pt>
                <c:pt idx="2">
                  <c:v>0.0292287438122697</c:v>
                </c:pt>
                <c:pt idx="3">
                  <c:v>0.0993115834964294</c:v>
                </c:pt>
                <c:pt idx="4">
                  <c:v>0.00921190170544851</c:v>
                </c:pt>
                <c:pt idx="5">
                  <c:v>0.125774370375898</c:v>
                </c:pt>
                <c:pt idx="6">
                  <c:v>0.0919120340858602</c:v>
                </c:pt>
                <c:pt idx="7">
                  <c:v>0.00273488588931457</c:v>
                </c:pt>
                <c:pt idx="8">
                  <c:v>0.0465026520513619</c:v>
                </c:pt>
                <c:pt idx="9">
                  <c:v>-0.00154123497442452</c:v>
                </c:pt>
                <c:pt idx="10">
                  <c:v>0.0300725304526989</c:v>
                </c:pt>
                <c:pt idx="11">
                  <c:v>0.0814721740521494</c:v>
                </c:pt>
                <c:pt idx="12">
                  <c:v>0.0343848824476155</c:v>
                </c:pt>
                <c:pt idx="13">
                  <c:v>0</c:v>
                </c:pt>
                <c:pt idx="14">
                  <c:v>0.00262355923007683</c:v>
                </c:pt>
                <c:pt idx="15">
                  <c:v>0.000166544664220635</c:v>
                </c:pt>
                <c:pt idx="16">
                  <c:v>0.0110583665061398</c:v>
                </c:pt>
                <c:pt idx="17">
                  <c:v>0.0995665937391688</c:v>
                </c:pt>
                <c:pt idx="18">
                  <c:v>0.0132594936942493</c:v>
                </c:pt>
                <c:pt idx="19">
                  <c:v>0.00603247239001987</c:v>
                </c:pt>
                <c:pt idx="20">
                  <c:v>0.230544645138537</c:v>
                </c:pt>
                <c:pt idx="21">
                  <c:v>0.00918165704398647</c:v>
                </c:pt>
                <c:pt idx="22">
                  <c:v>0.00617886473347457</c:v>
                </c:pt>
                <c:pt idx="23">
                  <c:v>0.0277742055707685</c:v>
                </c:pt>
              </c:numCache>
            </c:numRef>
          </c:val>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4f30d73d-892f-42f7-af0b-275be84b6344}"/>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306">
  <cs:axisTitle>
    <cs:lnRef idx="0"/>
    <cs:fillRef idx="0"/>
    <cs:effectRef idx="0"/>
    <cs:fontRef idx="minor">
      <a:schemeClr val="dk1">
        <a:lumMod val="65000"/>
        <a:lumOff val="35000"/>
      </a:schemeClr>
    </cs:fontRef>
    <cs:defRPr sz="1000"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lt1">
          <a:lumMod val="96000"/>
        </a:schemeClr>
      </a:solidFill>
      <a:ln w="9525" cap="flat" cmpd="sng" algn="ctr">
        <a:solidFill>
          <a:schemeClr val="tx1">
            <a:lumMod val="15000"/>
            <a:lumOff val="85000"/>
          </a:schemeClr>
        </a:solidFill>
        <a:round/>
      </a:ln>
    </cs:spPr>
    <cs:defRPr sz="1000" kern="1200"/>
  </cs:chartArea>
  <cs:dataLabel>
    <cs:lnRef idx="0"/>
    <cs:fillRef idx="0"/>
    <cs:effectRef idx="0"/>
    <cs:fontRef idx="minor">
      <a:schemeClr val="dk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hueOff val="-1670000"/>
            </a:schemeClr>
          </a:gs>
          <a:gs pos="100000">
            <a:schemeClr val="phClr"/>
          </a:gs>
        </a:gsLst>
        <a:lin ang="5400000" scaled="0"/>
      </a:gradFill>
      <a:ln>
        <a:gradFill>
          <a:gsLst>
            <a:gs pos="0">
              <a:schemeClr val="phClr">
                <a:lumMod val="75000"/>
                <a:hueOff val="-1670000"/>
              </a:schemeClr>
            </a:gs>
            <a:gs pos="100000">
              <a:schemeClr val="phClr">
                <a:lumMod val="75000"/>
              </a:schemeClr>
            </a:gs>
          </a:gsLst>
          <a:lin ang="5160000" scaled="1"/>
        </a:gradFill>
      </a:ln>
      <a:effectLst/>
    </cs:spPr>
  </cs:dataPoint>
  <cs:dataPoint3D>
    <cs:lnRef idx="0"/>
    <cs:fillRef idx="1">
      <cs:styleClr val="auto"/>
    </cs:fillRef>
    <cs:effectRef idx="0"/>
    <cs:fontRef idx="minor">
      <a:schemeClr val="tx1"/>
    </cs:fontRef>
  </cs:dataPoint3D>
  <cs:dataPointLine>
    <cs:lnRef idx="0">
      <cs:styleClr val="auto"/>
    </cs:lnRef>
    <cs:fillRef idx="0"/>
    <cs:effectRef idx="0"/>
    <cs:fontRef idx="minor">
      <a:schemeClr val="tx1"/>
    </cs:fontRef>
    <cs:spPr>
      <a:ln w="28575" cap="rnd">
        <a:gradFill>
          <a:gsLst>
            <a:gs pos="0">
              <a:schemeClr val="phClr">
                <a:hueOff val="-1670000"/>
              </a:schemeClr>
            </a:gs>
            <a:gs pos="100000">
              <a:schemeClr val="phClr"/>
            </a:gs>
          </a:gsLst>
          <a:lin ang="5160000" scaled="1"/>
        </a:gra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cap="flat" cmpd="sng" algn="ctr">
        <a:solidFill>
          <a:schemeClr val="dk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a:solidFill>
          <a:schemeClr val="dk1">
            <a:lumMod val="75000"/>
            <a:lumOff val="2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dk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8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527559-FDD8-4274-B634-C7FBCF5BC573}" type="doc">
      <dgm:prSet loTypeId="process" loCatId="process" qsTypeId="urn:microsoft.com/office/officeart/2005/8/quickstyle/simple5" qsCatId="simple" csTypeId="urn:microsoft.com/office/officeart/2005/8/colors/accent5_4" csCatId="accent1" phldr="0"/>
      <dgm:spPr/>
    </dgm:pt>
    <dgm:pt modelId="{870E4F47-8CC4-4F59-B4C1-42B5AAA5CEFE}">
      <dgm:prSet phldrT="[Text]" phldr="0" custT="0"/>
      <dgm:spPr/>
      <dgm:t>
        <a:bodyPr vert="horz" wrap="square"/>
        <a:p>
          <a:pPr>
            <a:lnSpc>
              <a:spcPct val="100000"/>
            </a:lnSpc>
            <a:spcBef>
              <a:spcPct val="0"/>
            </a:spcBef>
            <a:spcAft>
              <a:spcPct val="35000"/>
            </a:spcAft>
          </a:pPr>
          <a:r>
            <a:rPr lang="en-US">
              <a:sym typeface="+mn-ea"/>
            </a:rPr>
            <a:t>Performance A/T &amp; Grw Sales</a:t>
          </a:r>
          <a:r>
            <a:rPr lang="en-US"/>
            <a:t/>
          </a:r>
          <a:endParaRPr lang="en-US"/>
        </a:p>
      </dgm:t>
    </dgm:pt>
    <dgm:pt modelId="{3D1AB2CA-88A4-4E4C-9A8A-508DF0E06639}" cxnId="{A365A234-CC6E-43EC-B89A-FC672BB05F6C}" type="parTrans">
      <dgm:prSet/>
      <dgm:spPr/>
    </dgm:pt>
    <dgm:pt modelId="{856E2728-BF00-49C7-82BA-8F4DCB00940B}" cxnId="{A365A234-CC6E-43EC-B89A-FC672BB05F6C}" type="sibTrans">
      <dgm:prSet/>
      <dgm:spPr/>
    </dgm:pt>
    <dgm:pt modelId="{1AA64000-5F0F-47A8-A435-2AF8D82F28B1}">
      <dgm:prSet phldrT="[Text]" phldr="0" custT="0"/>
      <dgm:spPr/>
      <dgm:t>
        <a:bodyPr vert="horz" wrap="square"/>
        <a:p>
          <a:pPr>
            <a:lnSpc>
              <a:spcPct val="100000"/>
            </a:lnSpc>
            <a:spcBef>
              <a:spcPct val="0"/>
            </a:spcBef>
            <a:spcAft>
              <a:spcPct val="35000"/>
            </a:spcAft>
          </a:pPr>
          <a:r>
            <a:rPr lang="en-US"/>
            <a:t>Performance POT</a:t>
          </a:r>
          <a:r>
            <a:rPr lang="en-US"/>
            <a:t/>
          </a:r>
          <a:endParaRPr lang="en-US"/>
        </a:p>
      </dgm:t>
    </dgm:pt>
    <dgm:pt modelId="{845A32C3-0E8A-4EED-972E-FC6F9A8364F8}" cxnId="{E5B35373-14F8-419E-8D0F-75BE438664BF}" type="parTrans">
      <dgm:prSet/>
      <dgm:spPr/>
    </dgm:pt>
    <dgm:pt modelId="{C0D86BAE-7711-4781-A574-7BE0EA273229}" cxnId="{E5B35373-14F8-419E-8D0F-75BE438664BF}" type="sibTrans">
      <dgm:prSet/>
      <dgm:spPr/>
    </dgm:pt>
    <dgm:pt modelId="{9AB98B18-A78F-4F5E-B922-B72912505907}">
      <dgm:prSet phldr="0" custT="0"/>
      <dgm:spPr/>
      <dgm:t>
        <a:bodyPr vert="horz" wrap="square"/>
        <a:p>
          <a:pPr>
            <a:lnSpc>
              <a:spcPct val="100000"/>
            </a:lnSpc>
            <a:spcBef>
              <a:spcPct val="0"/>
            </a:spcBef>
            <a:spcAft>
              <a:spcPct val="35000"/>
            </a:spcAft>
          </a:pPr>
          <a:r>
            <a:rPr lang="en-US"/>
            <a:t>BEST BRANCH 2026</a:t>
          </a:r>
          <a:r>
            <a:rPr lang="en-US"/>
            <a:t/>
          </a:r>
          <a:endParaRPr lang="en-US"/>
        </a:p>
      </dgm:t>
    </dgm:pt>
    <dgm:pt modelId="{50C99CEB-84F5-4BBE-B7E4-129B006627C8}" cxnId="{58F1D749-70A9-4D54-A1CD-135D317480A6}" type="parTrans">
      <dgm:prSet/>
      <dgm:spPr/>
    </dgm:pt>
    <dgm:pt modelId="{071B1046-125E-4DE0-A69E-9DFEDDD9B4DE}" cxnId="{58F1D749-70A9-4D54-A1CD-135D317480A6}" type="sibTrans">
      <dgm:prSet/>
      <dgm:spPr/>
    </dgm:pt>
    <dgm:pt modelId="{60E81CF5-4537-4C2F-8762-598D2E914097}" type="pres">
      <dgm:prSet presAssocID="{9D527559-FDD8-4274-B634-C7FBCF5BC573}" presName="Name0" presStyleCnt="0">
        <dgm:presLayoutVars>
          <dgm:dir/>
          <dgm:animLvl val="lvl"/>
          <dgm:resizeHandles val="exact"/>
        </dgm:presLayoutVars>
      </dgm:prSet>
      <dgm:spPr/>
    </dgm:pt>
    <dgm:pt modelId="{781FDB99-2C3A-463C-B98F-CBBFA190AC20}" type="pres">
      <dgm:prSet presAssocID="{870E4F47-8CC4-4F59-B4C1-42B5AAA5CEFE}" presName="parTxOnly" presStyleLbl="node1" presStyleIdx="0" presStyleCnt="3">
        <dgm:presLayoutVars>
          <dgm:chMax val="0"/>
          <dgm:chPref val="0"/>
          <dgm:bulletEnabled val="1"/>
        </dgm:presLayoutVars>
      </dgm:prSet>
      <dgm:spPr/>
    </dgm:pt>
    <dgm:pt modelId="{42AEB03D-B6F2-4CD1-8581-287E52B0E6CF}" type="pres">
      <dgm:prSet presAssocID="{856E2728-BF00-49C7-82BA-8F4DCB00940B}" presName="parTxOnlySpace" presStyleCnt="0"/>
      <dgm:spPr/>
    </dgm:pt>
    <dgm:pt modelId="{05DC7C35-3D0E-4EFF-A248-B7A80CAF54F0}" type="pres">
      <dgm:prSet presAssocID="{1AA64000-5F0F-47A8-A435-2AF8D82F28B1}" presName="parTxOnly" presStyleLbl="node1" presStyleIdx="1" presStyleCnt="3">
        <dgm:presLayoutVars>
          <dgm:chMax val="0"/>
          <dgm:chPref val="0"/>
          <dgm:bulletEnabled val="1"/>
        </dgm:presLayoutVars>
      </dgm:prSet>
      <dgm:spPr/>
    </dgm:pt>
    <dgm:pt modelId="{BF226827-A981-4FFA-9CB2-973772A7B9FB}" type="pres">
      <dgm:prSet presAssocID="{C0D86BAE-7711-4781-A574-7BE0EA273229}" presName="parTxOnlySpace" presStyleCnt="0"/>
      <dgm:spPr/>
    </dgm:pt>
    <dgm:pt modelId="{00D8963E-5F20-4DF5-945F-7D8A6D3FC6DE}" type="pres">
      <dgm:prSet presAssocID="{9AB98B18-A78F-4F5E-B922-B72912505907}" presName="parTxOnly" presStyleLbl="node1" presStyleIdx="2" presStyleCnt="3">
        <dgm:presLayoutVars>
          <dgm:chMax val="0"/>
          <dgm:chPref val="0"/>
          <dgm:bulletEnabled val="1"/>
        </dgm:presLayoutVars>
      </dgm:prSet>
      <dgm:spPr/>
    </dgm:pt>
  </dgm:ptLst>
  <dgm:cxnLst>
    <dgm:cxn modelId="{A365A234-CC6E-43EC-B89A-FC672BB05F6C}" srcId="{9D527559-FDD8-4274-B634-C7FBCF5BC573}" destId="{870E4F47-8CC4-4F59-B4C1-42B5AAA5CEFE}" srcOrd="0" destOrd="0" parTransId="{3D1AB2CA-88A4-4E4C-9A8A-508DF0E06639}" sibTransId="{856E2728-BF00-49C7-82BA-8F4DCB00940B}"/>
    <dgm:cxn modelId="{E5B35373-14F8-419E-8D0F-75BE438664BF}" srcId="{9D527559-FDD8-4274-B634-C7FBCF5BC573}" destId="{1AA64000-5F0F-47A8-A435-2AF8D82F28B1}" srcOrd="1" destOrd="0" parTransId="{845A32C3-0E8A-4EED-972E-FC6F9A8364F8}" sibTransId="{C0D86BAE-7711-4781-A574-7BE0EA273229}"/>
    <dgm:cxn modelId="{58F1D749-70A9-4D54-A1CD-135D317480A6}" srcId="{9D527559-FDD8-4274-B634-C7FBCF5BC573}" destId="{9AB98B18-A78F-4F5E-B922-B72912505907}" srcOrd="2" destOrd="0" parTransId="{50C99CEB-84F5-4BBE-B7E4-129B006627C8}" sibTransId="{071B1046-125E-4DE0-A69E-9DFEDDD9B4DE}"/>
    <dgm:cxn modelId="{18C7C650-9141-4349-AF04-F0E09C9D3FEB}" type="presOf" srcId="{9D527559-FDD8-4274-B634-C7FBCF5BC573}" destId="{60E81CF5-4537-4C2F-8762-598D2E914097}" srcOrd="0" destOrd="0" presId="urn:microsoft.com/office/officeart/2005/8/layout/chevron1"/>
    <dgm:cxn modelId="{7F1D9ADF-CF57-4027-814E-3473941D8838}" type="presParOf" srcId="{60E81CF5-4537-4C2F-8762-598D2E914097}" destId="{781FDB99-2C3A-463C-B98F-CBBFA190AC20}" srcOrd="0" destOrd="0" presId="urn:microsoft.com/office/officeart/2005/8/layout/chevron1"/>
    <dgm:cxn modelId="{49F9F8C7-86F3-44B2-820F-766A16023909}" type="presOf" srcId="{870E4F47-8CC4-4F59-B4C1-42B5AAA5CEFE}" destId="{781FDB99-2C3A-463C-B98F-CBBFA190AC20}" srcOrd="0" destOrd="0" presId="urn:microsoft.com/office/officeart/2005/8/layout/chevron1"/>
    <dgm:cxn modelId="{F07B1C8E-B351-4982-A085-D05AB4E3A9F1}" type="presParOf" srcId="{60E81CF5-4537-4C2F-8762-598D2E914097}" destId="{42AEB03D-B6F2-4CD1-8581-287E52B0E6CF}" srcOrd="1" destOrd="0" presId="urn:microsoft.com/office/officeart/2005/8/layout/chevron1"/>
    <dgm:cxn modelId="{4941302A-661C-4260-AE1C-D1131CE44EE9}" type="presParOf" srcId="{60E81CF5-4537-4C2F-8762-598D2E914097}" destId="{05DC7C35-3D0E-4EFF-A248-B7A80CAF54F0}" srcOrd="2" destOrd="0" presId="urn:microsoft.com/office/officeart/2005/8/layout/chevron1"/>
    <dgm:cxn modelId="{F5CCDD3F-2F23-4683-A68E-D52E6FD1D0FB}" type="presOf" srcId="{1AA64000-5F0F-47A8-A435-2AF8D82F28B1}" destId="{05DC7C35-3D0E-4EFF-A248-B7A80CAF54F0}" srcOrd="0" destOrd="0" presId="urn:microsoft.com/office/officeart/2005/8/layout/chevron1"/>
    <dgm:cxn modelId="{2E3521E4-62B9-4875-9356-26605CC01FC9}" type="presParOf" srcId="{60E81CF5-4537-4C2F-8762-598D2E914097}" destId="{BF226827-A981-4FFA-9CB2-973772A7B9FB}" srcOrd="3" destOrd="0" presId="urn:microsoft.com/office/officeart/2005/8/layout/chevron1"/>
    <dgm:cxn modelId="{CE5B15D8-C33B-4B1F-83F1-5B9C3FC20369}" type="presParOf" srcId="{60E81CF5-4537-4C2F-8762-598D2E914097}" destId="{00D8963E-5F20-4DF5-945F-7D8A6D3FC6DE}" srcOrd="4" destOrd="0" presId="urn:microsoft.com/office/officeart/2005/8/layout/chevron1"/>
    <dgm:cxn modelId="{1080EFD8-909A-4695-9C6B-05D564803C2D}" type="presOf" srcId="{9AB98B18-A78F-4F5E-B922-B72912505907}" destId="{00D8963E-5F20-4DF5-945F-7D8A6D3FC6DE}" srcOrd="0"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828780" cy="1090930"/>
        <a:chOff x="0" y="0"/>
        <a:chExt cx="11828780" cy="1090930"/>
      </a:xfrm>
    </dsp:grpSpPr>
    <dsp:sp modelId="{781FDB99-2C3A-463C-B98F-CBBFA190AC20}">
      <dsp:nvSpPr>
        <dsp:cNvPr id="13" name="Chevron 12"/>
        <dsp:cNvSpPr/>
      </dsp:nvSpPr>
      <dsp:spPr bwMode="white">
        <a:xfrm>
          <a:off x="0" y="0"/>
          <a:ext cx="4224564" cy="1090930"/>
        </a:xfrm>
        <a:prstGeom prst="chevron">
          <a:avLst/>
        </a:prstGeom>
      </dsp:spPr>
      <dsp:style>
        <a:lnRef idx="0">
          <a:schemeClr val="lt1"/>
        </a:lnRef>
        <a:fillRef idx="3">
          <a:schemeClr val="accent5">
            <a:shade val="50000"/>
            <a:hueOff val="0"/>
            <a:satOff val="0"/>
            <a:lumOff val="0"/>
            <a:alpha val="100000"/>
          </a:schemeClr>
        </a:fillRef>
        <a:effectRef idx="3">
          <a:scrgbClr r="0" g="0" b="0"/>
        </a:effectRef>
        <a:fontRef idx="minor">
          <a:schemeClr val="lt1"/>
        </a:fontRef>
      </dsp:style>
      <dsp:txBody>
        <a:bodyPr vert="horz" wrap="square" lIns="124015" tIns="41338" rIns="41338" bIns="41338"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sym typeface="+mn-ea"/>
            </a:rPr>
            <a:t>Performance A/T &amp; Grw Sales</a:t>
          </a:r>
          <a:endParaRPr lang="en-US"/>
        </a:p>
      </dsp:txBody>
      <dsp:txXfrm>
        <a:off x="0" y="0"/>
        <a:ext cx="4224564" cy="1090930"/>
      </dsp:txXfrm>
    </dsp:sp>
    <dsp:sp modelId="{05DC7C35-3D0E-4EFF-A248-B7A80CAF54F0}">
      <dsp:nvSpPr>
        <dsp:cNvPr id="14" name="Chevron 13"/>
        <dsp:cNvSpPr/>
      </dsp:nvSpPr>
      <dsp:spPr bwMode="white">
        <a:xfrm>
          <a:off x="3802108" y="0"/>
          <a:ext cx="4224564" cy="1090930"/>
        </a:xfrm>
        <a:prstGeom prst="chevron">
          <a:avLst/>
        </a:prstGeom>
      </dsp:spPr>
      <dsp:style>
        <a:lnRef idx="0">
          <a:schemeClr val="lt1"/>
        </a:lnRef>
        <a:fillRef idx="3">
          <a:schemeClr val="accent5">
            <a:shade val="50000"/>
            <a:hueOff val="279999"/>
            <a:satOff val="-6796"/>
            <a:lumOff val="28758"/>
            <a:alpha val="100000"/>
          </a:schemeClr>
        </a:fillRef>
        <a:effectRef idx="3">
          <a:scrgbClr r="0" g="0" b="0"/>
        </a:effectRef>
        <a:fontRef idx="minor">
          <a:schemeClr val="lt1"/>
        </a:fontRef>
      </dsp:style>
      <dsp:txBody>
        <a:bodyPr vert="horz" wrap="square" lIns="124015" tIns="41338" rIns="41338" bIns="41338"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t>Performance POT</a:t>
          </a:r>
          <a:endParaRPr lang="en-US"/>
        </a:p>
      </dsp:txBody>
      <dsp:txXfrm>
        <a:off x="3802108" y="0"/>
        <a:ext cx="4224564" cy="1090930"/>
      </dsp:txXfrm>
    </dsp:sp>
    <dsp:sp modelId="{00D8963E-5F20-4DF5-945F-7D8A6D3FC6DE}">
      <dsp:nvSpPr>
        <dsp:cNvPr id="15" name="Chevron 14"/>
        <dsp:cNvSpPr/>
      </dsp:nvSpPr>
      <dsp:spPr bwMode="white">
        <a:xfrm>
          <a:off x="7604216" y="0"/>
          <a:ext cx="4224564" cy="1090930"/>
        </a:xfrm>
        <a:prstGeom prst="chevron">
          <a:avLst/>
        </a:prstGeom>
      </dsp:spPr>
      <dsp:style>
        <a:lnRef idx="0">
          <a:schemeClr val="lt1"/>
        </a:lnRef>
        <a:fillRef idx="3">
          <a:schemeClr val="accent5">
            <a:tint val="55000"/>
            <a:hueOff val="-139999"/>
            <a:satOff val="3399"/>
            <a:lumOff val="-14378"/>
            <a:alpha val="100000"/>
          </a:schemeClr>
        </a:fillRef>
        <a:effectRef idx="3">
          <a:scrgbClr r="0" g="0" b="0"/>
        </a:effectRef>
        <a:fontRef idx="minor">
          <a:schemeClr val="lt1"/>
        </a:fontRef>
      </dsp:style>
      <dsp:txBody>
        <a:bodyPr vert="horz" wrap="square" lIns="124015" tIns="41338" rIns="41338" bIns="41338"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t>BEST BRANCH 2026</a:t>
          </a:r>
          <a:endParaRPr lang="en-US"/>
        </a:p>
      </dsp:txBody>
      <dsp:txXfrm>
        <a:off x="7604216" y="0"/>
        <a:ext cx="4224564" cy="109093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22027C-8873-4953-8028-DA19D496094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A9BBF2-4E7E-464C-A75A-D3D173A5FFB0}"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BB0A6-C193-4312-BCF4-B320D871B17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9114D0-5748-4593-8D8F-78B5932E397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387E0B-8628-4923-8B4E-4C0D969215F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466EE-D14C-4C42-858E-A7B446387881}" type="slidenum">
              <a:rPr lang="en-US" smtClean="0"/>
            </a:fld>
            <a:endParaRPr lang="en-US"/>
          </a:p>
        </p:txBody>
      </p:sp>
      <p:pic>
        <p:nvPicPr>
          <p:cNvPr id="2" name="Picture 1"/>
          <p:cNvPicPr>
            <a:picLocks noChangeAspect="1"/>
          </p:cNvPicPr>
          <p:nvPr userDrawn="1"/>
        </p:nvPicPr>
        <p:blipFill>
          <a:blip r:embed="rId2"/>
          <a:stretch>
            <a:fillRect/>
          </a:stretch>
        </p:blipFill>
        <p:spPr>
          <a:xfrm>
            <a:off x="674" y="0"/>
            <a:ext cx="12191326" cy="6853955"/>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387E0B-8628-4923-8B4E-4C0D969215F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466EE-D14C-4C42-858E-A7B446387881}" type="slidenum">
              <a:rPr lang="en-US" smtClean="0"/>
            </a:fld>
            <a:endParaRPr lang="en-US"/>
          </a:p>
        </p:txBody>
      </p:sp>
      <p:pic>
        <p:nvPicPr>
          <p:cNvPr id="3" name="Picture 2"/>
          <p:cNvPicPr>
            <a:picLocks noChangeAspect="1"/>
          </p:cNvPicPr>
          <p:nvPr userDrawn="1"/>
        </p:nvPicPr>
        <p:blipFill>
          <a:blip r:embed="rId2"/>
          <a:stretch>
            <a:fillRect/>
          </a:stretch>
        </p:blipFill>
        <p:spPr>
          <a:xfrm>
            <a:off x="0" y="14072"/>
            <a:ext cx="12192000" cy="6829855"/>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387E0B-8628-4923-8B4E-4C0D969215F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B466EE-D14C-4C42-858E-A7B446387881}" type="slidenum">
              <a:rPr lang="en-US" smtClean="0"/>
            </a:fld>
            <a:endParaRPr lang="en-US"/>
          </a:p>
        </p:txBody>
      </p:sp>
      <p:pic>
        <p:nvPicPr>
          <p:cNvPr id="2" name="Picture 1"/>
          <p:cNvPicPr>
            <a:picLocks noChangeAspect="1"/>
          </p:cNvPicPr>
          <p:nvPr userDrawn="1"/>
        </p:nvPicPr>
        <p:blipFill>
          <a:blip r:embed="rId2"/>
          <a:stretch>
            <a:fillRect/>
          </a:stretch>
        </p:blipFill>
        <p:spPr>
          <a:xfrm>
            <a:off x="0" y="81964"/>
            <a:ext cx="12192000" cy="6855912"/>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387E0B-8628-4923-8B4E-4C0D969215F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466EE-D14C-4C42-858E-A7B44638788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Google Shape;50;p13"/>
          <p:cNvSpPr txBox="1"/>
          <p:nvPr/>
        </p:nvSpPr>
        <p:spPr>
          <a:xfrm>
            <a:off x="629920" y="2097405"/>
            <a:ext cx="8489950" cy="2324735"/>
          </a:xfrm>
          <a:prstGeom prst="rect">
            <a:avLst/>
          </a:prstGeom>
          <a:noFill/>
          <a:ln>
            <a:noFill/>
          </a:ln>
        </p:spPr>
        <p:txBody>
          <a:bodyPr spcFirstLastPara="1" wrap="square" lIns="91425" tIns="91425" rIns="91425" bIns="91425" anchor="t" anchorCtr="0">
            <a:spAutoFit/>
          </a:bodyPr>
          <a:p>
            <a:pPr marL="0" lvl="0" indent="0" algn="l" rtl="0">
              <a:lnSpc>
                <a:spcPct val="85000"/>
              </a:lnSpc>
              <a:spcBef>
                <a:spcPts val="0"/>
              </a:spcBef>
              <a:spcAft>
                <a:spcPts val="0"/>
              </a:spcAft>
              <a:buNone/>
            </a:pPr>
            <a:r>
              <a:rPr lang="en-US" sz="3800" dirty="0">
                <a:solidFill>
                  <a:srgbClr val="FF0000"/>
                </a:solidFill>
                <a:latin typeface="Nunito ExtraBold"/>
                <a:ea typeface="Nunito ExtraBold"/>
                <a:cs typeface="Nunito ExtraBold"/>
                <a:sym typeface="Nunito ExtraBold"/>
              </a:rPr>
              <a:t>MEETING KASIE 2026</a:t>
            </a:r>
            <a:endParaRPr lang="en-US" sz="3800" dirty="0">
              <a:solidFill>
                <a:srgbClr val="FF0000"/>
              </a:solidFill>
              <a:latin typeface="Nunito ExtraBold"/>
              <a:ea typeface="Nunito ExtraBold"/>
              <a:cs typeface="Nunito ExtraBold"/>
              <a:sym typeface="Nunito ExtraBold"/>
            </a:endParaRPr>
          </a:p>
          <a:p>
            <a:pPr marL="0" lvl="0" indent="0" algn="l" rtl="0">
              <a:lnSpc>
                <a:spcPct val="85000"/>
              </a:lnSpc>
              <a:spcBef>
                <a:spcPts val="0"/>
              </a:spcBef>
              <a:spcAft>
                <a:spcPts val="0"/>
              </a:spcAft>
              <a:buNone/>
            </a:pPr>
            <a:r>
              <a:rPr lang="en-US" sz="2400" dirty="0">
                <a:solidFill>
                  <a:srgbClr val="FF0000"/>
                </a:solidFill>
                <a:latin typeface="Nunito ExtraBold"/>
                <a:ea typeface="Nunito ExtraBold"/>
                <a:cs typeface="Nunito ExtraBold"/>
                <a:sym typeface="Nunito ExtraBold"/>
              </a:rPr>
              <a:t>REVIEW CHP JULI 26 &amp; PARAMETER BEST BRANCH CHP</a:t>
            </a:r>
            <a:endParaRPr lang="en-US" sz="3800" dirty="0">
              <a:solidFill>
                <a:srgbClr val="FF0000"/>
              </a:solidFill>
              <a:latin typeface="Nunito ExtraBold"/>
              <a:ea typeface="Nunito ExtraBold"/>
              <a:cs typeface="Nunito ExtraBold"/>
              <a:sym typeface="Nunito ExtraBold"/>
            </a:endParaRPr>
          </a:p>
          <a:p>
            <a:pPr marL="0" lvl="0" indent="0" algn="l" rtl="0">
              <a:lnSpc>
                <a:spcPct val="85000"/>
              </a:lnSpc>
              <a:spcBef>
                <a:spcPts val="0"/>
              </a:spcBef>
              <a:spcAft>
                <a:spcPts val="0"/>
              </a:spcAft>
              <a:buNone/>
            </a:pPr>
            <a:endParaRPr sz="3800" dirty="0">
              <a:solidFill>
                <a:srgbClr val="2C67AD"/>
              </a:solidFill>
              <a:latin typeface="Nunito ExtraBold"/>
              <a:ea typeface="Nunito ExtraBold"/>
              <a:cs typeface="Nunito ExtraBold"/>
              <a:sym typeface="Nunito ExtraBold"/>
            </a:endParaRPr>
          </a:p>
          <a:p>
            <a:pPr marL="0" lvl="0" indent="0" algn="l" rtl="0">
              <a:lnSpc>
                <a:spcPct val="85000"/>
              </a:lnSpc>
              <a:spcBef>
                <a:spcPts val="0"/>
              </a:spcBef>
              <a:spcAft>
                <a:spcPts val="0"/>
              </a:spcAft>
              <a:buNone/>
            </a:pPr>
            <a:r>
              <a:rPr lang="en-US" sz="3200" dirty="0">
                <a:solidFill>
                  <a:srgbClr val="2C67AD"/>
                </a:solidFill>
                <a:latin typeface="Nunito"/>
                <a:ea typeface="Nunito"/>
                <a:cs typeface="Nunito"/>
                <a:sym typeface="Nunito"/>
              </a:rPr>
              <a:t>Cabang : BANDUNG</a:t>
            </a:r>
            <a:endParaRPr lang="en-US" sz="1400" dirty="0">
              <a:solidFill>
                <a:srgbClr val="2C67AD"/>
              </a:solidFill>
              <a:latin typeface="Nunito"/>
              <a:ea typeface="Nunito"/>
              <a:cs typeface="Nunito"/>
              <a:sym typeface="Nunito"/>
            </a:endParaRPr>
          </a:p>
          <a:p>
            <a:pPr marL="0" lvl="0" indent="0" algn="l" rtl="0">
              <a:lnSpc>
                <a:spcPct val="85000"/>
              </a:lnSpc>
              <a:spcBef>
                <a:spcPts val="0"/>
              </a:spcBef>
              <a:spcAft>
                <a:spcPts val="0"/>
              </a:spcAft>
              <a:buNone/>
            </a:pPr>
            <a:endParaRPr lang="en-US" sz="1400" dirty="0">
              <a:solidFill>
                <a:srgbClr val="2C67AD"/>
              </a:solidFill>
              <a:latin typeface="Nunito"/>
              <a:ea typeface="Nunito"/>
              <a:cs typeface="Nunito"/>
              <a:sym typeface="Nunito"/>
            </a:endParaRPr>
          </a:p>
          <a:p>
            <a:pPr marL="0" lvl="0" indent="0" algn="l" rtl="0">
              <a:lnSpc>
                <a:spcPct val="85000"/>
              </a:lnSpc>
              <a:spcBef>
                <a:spcPts val="0"/>
              </a:spcBef>
              <a:spcAft>
                <a:spcPts val="0"/>
              </a:spcAft>
              <a:buNone/>
            </a:pPr>
            <a:r>
              <a:rPr lang="en-US" sz="1800" i="1" dirty="0">
                <a:solidFill>
                  <a:srgbClr val="2C67AD"/>
                </a:solidFill>
                <a:latin typeface="Nunito"/>
                <a:ea typeface="Nunito"/>
                <a:cs typeface="Nunito"/>
                <a:sym typeface="Nunito"/>
              </a:rPr>
              <a:t>18 Agustus 2026</a:t>
            </a:r>
            <a:endParaRPr lang="en-US" sz="1800" i="1" dirty="0">
              <a:solidFill>
                <a:srgbClr val="2C67AD"/>
              </a:solidFill>
              <a:latin typeface="Nunito"/>
              <a:ea typeface="Nunito"/>
              <a:cs typeface="Nunito"/>
              <a:sym typeface="Nunito"/>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nvGraphicFramePr>
        <p:xfrm>
          <a:off x="113030" y="2303145"/>
          <a:ext cx="11828780" cy="109093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Chart 18"/>
          <p:cNvGraphicFramePr/>
          <p:nvPr/>
        </p:nvGraphicFramePr>
        <p:xfrm>
          <a:off x="300990" y="445770"/>
          <a:ext cx="5696585" cy="279209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1" name="Chart 20"/>
          <p:cNvGraphicFramePr/>
          <p:nvPr/>
        </p:nvGraphicFramePr>
        <p:xfrm>
          <a:off x="6364605" y="140970"/>
          <a:ext cx="5481320" cy="2969895"/>
        </p:xfrm>
        <a:graphic>
          <a:graphicData uri="http://schemas.openxmlformats.org/drawingml/2006/chart">
            <c:chart xmlns:c="http://schemas.openxmlformats.org/drawingml/2006/chart" xmlns:r="http://schemas.openxmlformats.org/officeDocument/2006/relationships" r:id="rId2"/>
          </a:graphicData>
        </a:graphic>
      </p:graphicFrame>
      <p:sp>
        <p:nvSpPr>
          <p:cNvPr id="22" name="Google Shape;58;p14"/>
          <p:cNvSpPr txBox="1"/>
          <p:nvPr/>
        </p:nvSpPr>
        <p:spPr>
          <a:xfrm>
            <a:off x="84262" y="123420"/>
            <a:ext cx="9452886" cy="390525"/>
          </a:xfrm>
          <a:prstGeom prst="rect">
            <a:avLst/>
          </a:prstGeom>
          <a:noFill/>
          <a:ln>
            <a:noFill/>
          </a:ln>
        </p:spPr>
        <p:txBody>
          <a:bodyPr spcFirstLastPara="1" wrap="square" lIns="91425" tIns="91425" rIns="91425" bIns="91425" anchor="t" anchorCtr="0">
            <a:spAutoFit/>
          </a:bodyPr>
          <a:p>
            <a:pPr marL="0" lvl="0" indent="0" algn="l" rtl="0">
              <a:lnSpc>
                <a:spcPct val="85000"/>
              </a:lnSpc>
              <a:spcBef>
                <a:spcPts val="0"/>
              </a:spcBef>
              <a:spcAft>
                <a:spcPts val="0"/>
              </a:spcAft>
              <a:buNone/>
            </a:pPr>
            <a:r>
              <a:rPr lang="en-US" altLang="en-US" sz="1600" dirty="0">
                <a:solidFill>
                  <a:srgbClr val="2C67AD"/>
                </a:solidFill>
                <a:latin typeface="Nunito Black"/>
                <a:ea typeface="Nunito Black"/>
                <a:cs typeface="Nunito Black"/>
                <a:sym typeface="Nunito Black"/>
              </a:rPr>
              <a:t>1. Performance A/T &amp; GRW Sales</a:t>
            </a:r>
            <a:endParaRPr lang="en-US" altLang="en-US" sz="1600" dirty="0">
              <a:solidFill>
                <a:srgbClr val="2C67AD"/>
              </a:solidFill>
              <a:latin typeface="Nunito Black"/>
              <a:ea typeface="Nunito Black"/>
              <a:cs typeface="Nunito Black"/>
              <a:sym typeface="Nunito Black"/>
            </a:endParaRPr>
          </a:p>
        </p:txBody>
      </p:sp>
      <p:sp>
        <p:nvSpPr>
          <p:cNvPr id="7" name="TextBox 10"/>
          <p:cNvSpPr txBox="1"/>
          <p:nvPr/>
        </p:nvSpPr>
        <p:spPr>
          <a:xfrm>
            <a:off x="5902960" y="4603750"/>
            <a:ext cx="6164580" cy="1855470"/>
          </a:xfrm>
          <a:prstGeom prst="rect">
            <a:avLst/>
          </a:prstGeom>
          <a:noFill/>
          <a:ln>
            <a:solidFill>
              <a:schemeClr val="accent1"/>
            </a:solidFill>
          </a:ln>
        </p:spPr>
        <p:txBody>
          <a:bodyPr wrap="square" rtlCol="0">
            <a:noAutofit/>
          </a:bodyPr>
          <a:p>
            <a:pPr marL="0" indent="0" algn="just">
              <a:buFontTx/>
              <a:buNone/>
            </a:pPr>
            <a:r>
              <a:rPr lang="en-US" altLang="en-US" sz="1200" b="1" dirty="0"/>
              <a:t>SUMMARY :</a:t>
            </a:r>
            <a:endParaRPr lang="en-US" altLang="en-US" sz="1200" b="1" dirty="0"/>
          </a:p>
          <a:p>
            <a:pPr marL="285750" indent="-285750" algn="just">
              <a:buFont typeface="Arial" panose="020B0704020202020204" pitchFamily="34" charset="0"/>
              <a:buChar char="•"/>
            </a:pPr>
            <a:r>
              <a:rPr lang="en-US" sz="1200" dirty="0">
                <a:sym typeface="+mn-ea"/>
              </a:rPr>
              <a:t>Pengambilan PT Combi Putra </a:t>
            </a:r>
            <a:r>
              <a:rPr lang="en-US" sz="1200" dirty="0" err="1">
                <a:sym typeface="+mn-ea"/>
              </a:rPr>
              <a:t>untuk</a:t>
            </a:r>
            <a:r>
              <a:rPr lang="en-US" sz="1200" dirty="0">
                <a:sym typeface="+mn-ea"/>
              </a:rPr>
              <a:t> last bite Antimo 72 </a:t>
            </a:r>
            <a:r>
              <a:rPr lang="en-US" sz="1200" dirty="0" err="1">
                <a:sym typeface="+mn-ea"/>
              </a:rPr>
              <a:t>sebesar</a:t>
            </a:r>
            <a:r>
              <a:rPr lang="en-US" sz="1200" dirty="0">
                <a:sym typeface="+mn-ea"/>
              </a:rPr>
              <a:t> 2,3 M dan Antimo Anak 360 </a:t>
            </a:r>
            <a:r>
              <a:rPr lang="en-US" sz="1200" dirty="0" err="1">
                <a:sym typeface="+mn-ea"/>
              </a:rPr>
              <a:t>juta</a:t>
            </a:r>
            <a:r>
              <a:rPr lang="en-US" sz="1200" dirty="0">
                <a:sym typeface="+mn-ea"/>
              </a:rPr>
              <a:t>.</a:t>
            </a:r>
            <a:endParaRPr lang="en-US" sz="1200" dirty="0"/>
          </a:p>
          <a:p>
            <a:pPr marL="285750" indent="-285750" algn="just">
              <a:buFont typeface="Arial" panose="020B0704020202020204" pitchFamily="34" charset="0"/>
              <a:buChar char="•"/>
            </a:pPr>
            <a:r>
              <a:rPr lang="en-US" sz="1200" dirty="0">
                <a:sym typeface="+mn-ea"/>
              </a:rPr>
              <a:t>PT </a:t>
            </a:r>
            <a:r>
              <a:rPr lang="en-US" sz="1200" dirty="0" err="1">
                <a:sym typeface="+mn-ea"/>
              </a:rPr>
              <a:t>Gemilang</a:t>
            </a:r>
            <a:r>
              <a:rPr lang="en-US" sz="1200" dirty="0">
                <a:sym typeface="+mn-ea"/>
              </a:rPr>
              <a:t> open 150 </a:t>
            </a:r>
            <a:r>
              <a:rPr lang="en-US" sz="1200" dirty="0" err="1">
                <a:sym typeface="+mn-ea"/>
              </a:rPr>
              <a:t>karton</a:t>
            </a:r>
            <a:r>
              <a:rPr lang="en-US" sz="1200" dirty="0">
                <a:sym typeface="+mn-ea"/>
              </a:rPr>
              <a:t> </a:t>
            </a:r>
            <a:r>
              <a:rPr lang="en-US" sz="1200" dirty="0" err="1">
                <a:sym typeface="+mn-ea"/>
              </a:rPr>
              <a:t>sebesar</a:t>
            </a:r>
            <a:r>
              <a:rPr lang="en-US" sz="1200" dirty="0">
                <a:sym typeface="+mn-ea"/>
              </a:rPr>
              <a:t> 1,3 M </a:t>
            </a:r>
            <a:r>
              <a:rPr lang="en-US" sz="1200" dirty="0" err="1">
                <a:sym typeface="+mn-ea"/>
              </a:rPr>
              <a:t>untuk</a:t>
            </a:r>
            <a:r>
              <a:rPr lang="en-US" sz="1200" dirty="0">
                <a:sym typeface="+mn-ea"/>
              </a:rPr>
              <a:t> buffer stock naik </a:t>
            </a:r>
            <a:r>
              <a:rPr lang="en-US" sz="1200" dirty="0" err="1">
                <a:sym typeface="+mn-ea"/>
              </a:rPr>
              <a:t>harga</a:t>
            </a:r>
            <a:r>
              <a:rPr lang="en-US" sz="1200" dirty="0">
                <a:sym typeface="+mn-ea"/>
              </a:rPr>
              <a:t> dan last bite </a:t>
            </a:r>
            <a:r>
              <a:rPr lang="en-US" sz="1200" dirty="0" err="1">
                <a:sym typeface="+mn-ea"/>
              </a:rPr>
              <a:t>Mecosin</a:t>
            </a:r>
            <a:r>
              <a:rPr lang="en-US" sz="1200" dirty="0">
                <a:sym typeface="+mn-ea"/>
              </a:rPr>
              <a:t> </a:t>
            </a:r>
            <a:r>
              <a:rPr lang="en-US" sz="1200" dirty="0" err="1">
                <a:sym typeface="+mn-ea"/>
              </a:rPr>
              <a:t>sebesar</a:t>
            </a:r>
            <a:r>
              <a:rPr lang="en-US" sz="1200" dirty="0">
                <a:sym typeface="+mn-ea"/>
              </a:rPr>
              <a:t> 39 </a:t>
            </a:r>
            <a:r>
              <a:rPr lang="en-US" sz="1200" dirty="0" err="1">
                <a:sym typeface="+mn-ea"/>
              </a:rPr>
              <a:t>juta</a:t>
            </a:r>
            <a:r>
              <a:rPr lang="en-US" sz="1200" dirty="0">
                <a:sym typeface="+mn-ea"/>
              </a:rPr>
              <a:t>.</a:t>
            </a:r>
            <a:endParaRPr lang="en-US" sz="1200" dirty="0"/>
          </a:p>
          <a:p>
            <a:pPr marL="285750" indent="-285750" algn="just">
              <a:buFont typeface="Arial" panose="020B0704020202020204" pitchFamily="34" charset="0"/>
              <a:buChar char="•"/>
            </a:pPr>
            <a:r>
              <a:rPr lang="en-US" sz="1200" dirty="0">
                <a:sym typeface="+mn-ea"/>
              </a:rPr>
              <a:t>KDE </a:t>
            </a:r>
            <a:r>
              <a:rPr lang="en-US" sz="1200" dirty="0" err="1">
                <a:sym typeface="+mn-ea"/>
              </a:rPr>
              <a:t>Close </a:t>
            </a:r>
            <a:r>
              <a:rPr lang="en-US" sz="1200" dirty="0">
                <a:sym typeface="+mn-ea"/>
              </a:rPr>
              <a:t>sales 166 </a:t>
            </a:r>
            <a:r>
              <a:rPr lang="en-US" sz="1200" dirty="0" err="1">
                <a:sym typeface="+mn-ea"/>
              </a:rPr>
              <a:t>juta</a:t>
            </a:r>
            <a:r>
              <a:rPr lang="en-US" sz="1200" dirty="0">
                <a:sym typeface="+mn-ea"/>
              </a:rPr>
              <a:t> </a:t>
            </a:r>
            <a:r>
              <a:rPr lang="en-US" sz="1200" dirty="0" err="1">
                <a:sym typeface="+mn-ea"/>
              </a:rPr>
              <a:t>dengan</a:t>
            </a:r>
            <a:r>
              <a:rPr lang="en-US" sz="1200" dirty="0">
                <a:sym typeface="+mn-ea"/>
              </a:rPr>
              <a:t> support </a:t>
            </a:r>
            <a:r>
              <a:rPr lang="en-US" sz="1200" dirty="0" err="1">
                <a:sym typeface="+mn-ea"/>
              </a:rPr>
              <a:t>diskon</a:t>
            </a:r>
            <a:r>
              <a:rPr lang="en-US" sz="1200" dirty="0">
                <a:sym typeface="+mn-ea"/>
              </a:rPr>
              <a:t> on </a:t>
            </a:r>
            <a:r>
              <a:rPr lang="en-US" sz="1200" dirty="0" err="1">
                <a:sym typeface="+mn-ea"/>
              </a:rPr>
              <a:t>faktur</a:t>
            </a:r>
            <a:r>
              <a:rPr lang="en-US" sz="1200" dirty="0">
                <a:sym typeface="+mn-ea"/>
              </a:rPr>
              <a:t>.</a:t>
            </a:r>
            <a:endParaRPr lang="en-US" sz="1200" dirty="0"/>
          </a:p>
          <a:p>
            <a:pPr marL="285750" indent="-285750" algn="just">
              <a:buFont typeface="Arial" panose="020B0704020202020204" pitchFamily="34" charset="0"/>
              <a:buChar char="•"/>
            </a:pPr>
            <a:r>
              <a:rPr lang="en-US" sz="1200" dirty="0">
                <a:sym typeface="+mn-ea"/>
              </a:rPr>
              <a:t>Yens Group </a:t>
            </a:r>
            <a:r>
              <a:rPr lang="en-US" sz="1200" dirty="0" err="1">
                <a:sym typeface="+mn-ea"/>
              </a:rPr>
              <a:t>sempat</a:t>
            </a:r>
            <a:r>
              <a:rPr lang="en-US" sz="1200" dirty="0">
                <a:sym typeface="+mn-ea"/>
              </a:rPr>
              <a:t> </a:t>
            </a:r>
            <a:r>
              <a:rPr lang="en-US" sz="1200" dirty="0" err="1">
                <a:sym typeface="+mn-ea"/>
              </a:rPr>
              <a:t>terkendala</a:t>
            </a:r>
            <a:r>
              <a:rPr lang="en-US" sz="1200" dirty="0">
                <a:sym typeface="+mn-ea"/>
              </a:rPr>
              <a:t> hold </a:t>
            </a:r>
            <a:r>
              <a:rPr lang="en-US" sz="1200" dirty="0" err="1">
                <a:sym typeface="+mn-ea"/>
              </a:rPr>
              <a:t>dari</a:t>
            </a:r>
            <a:r>
              <a:rPr lang="en-US" sz="1200" dirty="0">
                <a:sym typeface="+mn-ea"/>
              </a:rPr>
              <a:t> </a:t>
            </a:r>
            <a:r>
              <a:rPr lang="en-US" sz="1200" dirty="0" err="1">
                <a:sym typeface="+mn-ea"/>
              </a:rPr>
              <a:t>awal</a:t>
            </a:r>
            <a:r>
              <a:rPr lang="en-US" sz="1200" dirty="0">
                <a:sym typeface="+mn-ea"/>
              </a:rPr>
              <a:t> </a:t>
            </a:r>
            <a:r>
              <a:rPr lang="en-US" sz="1200" dirty="0" err="1">
                <a:sym typeface="+mn-ea"/>
              </a:rPr>
              <a:t>bulan</a:t>
            </a:r>
            <a:r>
              <a:rPr lang="en-US" sz="1200" dirty="0">
                <a:sym typeface="+mn-ea"/>
              </a:rPr>
              <a:t> </a:t>
            </a:r>
            <a:r>
              <a:rPr lang="en-US" sz="1200" dirty="0" err="1">
                <a:sym typeface="+mn-ea"/>
              </a:rPr>
              <a:t>sehingga</a:t>
            </a:r>
            <a:r>
              <a:rPr lang="en-US" sz="1200" dirty="0">
                <a:sym typeface="+mn-ea"/>
              </a:rPr>
              <a:t> </a:t>
            </a:r>
            <a:r>
              <a:rPr lang="en-US" sz="1200" dirty="0" err="1">
                <a:sym typeface="+mn-ea"/>
              </a:rPr>
              <a:t>hanya</a:t>
            </a:r>
            <a:r>
              <a:rPr lang="en-US" sz="1200" dirty="0">
                <a:sym typeface="+mn-ea"/>
              </a:rPr>
              <a:t> </a:t>
            </a:r>
            <a:r>
              <a:rPr lang="en-US" sz="1200" dirty="0" err="1">
                <a:sym typeface="+mn-ea"/>
              </a:rPr>
              <a:t>membukukan</a:t>
            </a:r>
            <a:r>
              <a:rPr lang="en-US" sz="1200" dirty="0">
                <a:sym typeface="+mn-ea"/>
              </a:rPr>
              <a:t> sales 107 </a:t>
            </a:r>
            <a:r>
              <a:rPr lang="en-US" sz="1200" dirty="0" err="1">
                <a:sym typeface="+mn-ea"/>
              </a:rPr>
              <a:t>juta</a:t>
            </a:r>
            <a:r>
              <a:rPr lang="en-US" sz="1200" dirty="0">
                <a:sym typeface="+mn-ea"/>
              </a:rPr>
              <a:t>. </a:t>
            </a:r>
            <a:r>
              <a:rPr lang="en-US" sz="1200" dirty="0" err="1">
                <a:sym typeface="+mn-ea"/>
              </a:rPr>
              <a:t>Demikian</a:t>
            </a:r>
            <a:r>
              <a:rPr lang="en-US" sz="1200" dirty="0">
                <a:sym typeface="+mn-ea"/>
              </a:rPr>
              <a:t> juga </a:t>
            </a:r>
            <a:r>
              <a:rPr lang="en-US" sz="1200" dirty="0" err="1">
                <a:sym typeface="+mn-ea"/>
              </a:rPr>
              <a:t>dengan</a:t>
            </a:r>
            <a:r>
              <a:rPr lang="en-US" sz="1200" dirty="0">
                <a:sym typeface="+mn-ea"/>
              </a:rPr>
              <a:t> Lavie Baby House yang open sales 146 </a:t>
            </a:r>
            <a:r>
              <a:rPr lang="en-US" sz="1200" dirty="0" err="1">
                <a:sym typeface="+mn-ea"/>
              </a:rPr>
              <a:t>juta</a:t>
            </a:r>
            <a:r>
              <a:rPr lang="en-US" sz="1200" dirty="0">
                <a:sym typeface="+mn-ea"/>
              </a:rPr>
              <a:t>.</a:t>
            </a:r>
            <a:endParaRPr lang="en-US" sz="1200" dirty="0">
              <a:sym typeface="+mn-ea"/>
            </a:endParaRPr>
          </a:p>
          <a:p>
            <a:pPr marL="285750" indent="-285750" algn="just">
              <a:buFont typeface="Arial" panose="020B0704020202020204" pitchFamily="34" charset="0"/>
              <a:buChar char="•"/>
            </a:pPr>
            <a:r>
              <a:rPr lang="en-US" sz="1200" dirty="0"/>
              <a:t>minus grw dari </a:t>
            </a:r>
            <a:r>
              <a:rPr lang="en-US" altLang="en-US" sz="1200" dirty="0"/>
              <a:t>36 HASAN SADIKIN DR., RSU. Kontribusi minus terbesari dari item BOOST OPTIMUM adanya penurunan 14jt/bulan. </a:t>
            </a:r>
            <a:endParaRPr lang="en-US" altLang="en-US" sz="1200" dirty="0"/>
          </a:p>
          <a:p>
            <a:pPr marL="0" indent="0" algn="just">
              <a:buFontTx/>
              <a:buNone/>
            </a:pPr>
            <a:endParaRPr lang="en-US" altLang="en-US" sz="1200" dirty="0"/>
          </a:p>
        </p:txBody>
      </p:sp>
      <p:pic>
        <p:nvPicPr>
          <p:cNvPr id="6" name="Picture 5"/>
          <p:cNvPicPr>
            <a:picLocks noChangeAspect="1"/>
          </p:cNvPicPr>
          <p:nvPr/>
        </p:nvPicPr>
        <p:blipFill>
          <a:blip r:embed="rId3"/>
          <a:stretch>
            <a:fillRect/>
          </a:stretch>
        </p:blipFill>
        <p:spPr>
          <a:xfrm>
            <a:off x="0" y="3157220"/>
            <a:ext cx="12192000" cy="669925"/>
          </a:xfrm>
          <a:prstGeom prst="rect">
            <a:avLst/>
          </a:prstGeom>
        </p:spPr>
      </p:pic>
      <p:pic>
        <p:nvPicPr>
          <p:cNvPr id="9" name="Picture 8"/>
          <p:cNvPicPr>
            <a:picLocks noChangeAspect="1"/>
          </p:cNvPicPr>
          <p:nvPr/>
        </p:nvPicPr>
        <p:blipFill>
          <a:blip r:embed="rId4"/>
          <a:stretch>
            <a:fillRect/>
          </a:stretch>
        </p:blipFill>
        <p:spPr>
          <a:xfrm>
            <a:off x="0" y="3875405"/>
            <a:ext cx="12192000" cy="631190"/>
          </a:xfrm>
          <a:prstGeom prst="rect">
            <a:avLst/>
          </a:prstGeom>
        </p:spPr>
      </p:pic>
      <p:pic>
        <p:nvPicPr>
          <p:cNvPr id="10" name="Picture 9"/>
          <p:cNvPicPr>
            <a:picLocks noChangeAspect="1"/>
          </p:cNvPicPr>
          <p:nvPr/>
        </p:nvPicPr>
        <p:blipFill>
          <a:blip r:embed="rId5"/>
          <a:stretch>
            <a:fillRect/>
          </a:stretch>
        </p:blipFill>
        <p:spPr>
          <a:xfrm>
            <a:off x="84455" y="4603750"/>
            <a:ext cx="5695950" cy="183007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Google Shape;58;p14"/>
          <p:cNvSpPr txBox="1"/>
          <p:nvPr/>
        </p:nvSpPr>
        <p:spPr>
          <a:xfrm>
            <a:off x="84262" y="107545"/>
            <a:ext cx="9452886" cy="390525"/>
          </a:xfrm>
          <a:prstGeom prst="rect">
            <a:avLst/>
          </a:prstGeom>
          <a:noFill/>
          <a:ln>
            <a:noFill/>
          </a:ln>
        </p:spPr>
        <p:txBody>
          <a:bodyPr spcFirstLastPara="1" wrap="square" lIns="91425" tIns="91425" rIns="91425" bIns="91425" anchor="t" anchorCtr="0">
            <a:spAutoFit/>
          </a:bodyPr>
          <a:p>
            <a:pPr marL="0" lvl="0" indent="0" algn="l" rtl="0">
              <a:lnSpc>
                <a:spcPct val="85000"/>
              </a:lnSpc>
              <a:spcBef>
                <a:spcPts val="0"/>
              </a:spcBef>
              <a:spcAft>
                <a:spcPts val="0"/>
              </a:spcAft>
              <a:buNone/>
            </a:pPr>
            <a:r>
              <a:rPr lang="en-US" altLang="en-US" sz="1600" dirty="0">
                <a:solidFill>
                  <a:srgbClr val="2C67AD"/>
                </a:solidFill>
                <a:latin typeface="Nunito Black"/>
                <a:ea typeface="Nunito Black"/>
                <a:cs typeface="Nunito Black"/>
                <a:sym typeface="Nunito Black"/>
              </a:rPr>
              <a:t>2. PRINCIPLE ON TARGET (POT)</a:t>
            </a:r>
            <a:endParaRPr lang="en-US" altLang="en-US" sz="1600" dirty="0">
              <a:solidFill>
                <a:srgbClr val="2C67AD"/>
              </a:solidFill>
              <a:latin typeface="Nunito Black"/>
              <a:ea typeface="Nunito Black"/>
              <a:cs typeface="Nunito Black"/>
              <a:sym typeface="Nunito Black"/>
            </a:endParaRPr>
          </a:p>
        </p:txBody>
      </p:sp>
      <p:sp>
        <p:nvSpPr>
          <p:cNvPr id="10" name="Text Box 9"/>
          <p:cNvSpPr txBox="1"/>
          <p:nvPr/>
        </p:nvSpPr>
        <p:spPr>
          <a:xfrm>
            <a:off x="84455" y="3920490"/>
            <a:ext cx="5768975" cy="723265"/>
          </a:xfrm>
          <a:prstGeom prst="rect">
            <a:avLst/>
          </a:prstGeom>
        </p:spPr>
        <p:style>
          <a:lnRef idx="2">
            <a:schemeClr val="accent1"/>
          </a:lnRef>
          <a:fillRef idx="0">
            <a:srgbClr val="FFFFFF"/>
          </a:fillRef>
          <a:effectRef idx="0">
            <a:srgbClr val="FFFFFF"/>
          </a:effectRef>
          <a:fontRef idx="minor">
            <a:schemeClr val="tx1"/>
          </a:fontRef>
        </p:style>
        <p:txBody>
          <a:bodyPr wrap="square" rtlCol="0">
            <a:noAutofit/>
          </a:bodyPr>
          <a:p>
            <a:r>
              <a:rPr lang="en-US" sz="1000" b="1"/>
              <a:t>A/T &amp; High Grw:</a:t>
            </a:r>
            <a:endParaRPr lang="en-US" sz="1000" b="1"/>
          </a:p>
          <a:p>
            <a:pPr marL="285115" indent="-285115">
              <a:buFont typeface="Wingdings" panose="05000000000000000000" charset="0"/>
              <a:buChar char="Ø"/>
            </a:pPr>
            <a:r>
              <a:rPr lang="en-US" altLang="en-US" sz="1200"/>
              <a:t>ABI, PHC, CHW, BKK, PDB, J99, HYC Pertahankan performa, tingkatkan coverage, Cross Up Selling. dan Fokus Implementasi Program” berjalan.</a:t>
            </a:r>
            <a:endParaRPr lang="en-US" altLang="en-US" sz="1200"/>
          </a:p>
        </p:txBody>
      </p:sp>
      <p:sp>
        <p:nvSpPr>
          <p:cNvPr id="9" name="Text Box 8"/>
          <p:cNvSpPr txBox="1"/>
          <p:nvPr/>
        </p:nvSpPr>
        <p:spPr>
          <a:xfrm>
            <a:off x="96520" y="5006340"/>
            <a:ext cx="5768340" cy="1213485"/>
          </a:xfrm>
          <a:prstGeom prst="rect">
            <a:avLst/>
          </a:prstGeom>
        </p:spPr>
        <p:style>
          <a:lnRef idx="2">
            <a:schemeClr val="accent1"/>
          </a:lnRef>
          <a:fillRef idx="0">
            <a:srgbClr val="FFFFFF"/>
          </a:fillRef>
          <a:effectRef idx="0">
            <a:srgbClr val="FFFFFF"/>
          </a:effectRef>
          <a:fontRef idx="minor">
            <a:schemeClr val="tx1"/>
          </a:fontRef>
        </p:style>
        <p:txBody>
          <a:bodyPr wrap="square" rtlCol="0">
            <a:noAutofit/>
          </a:bodyPr>
          <a:p>
            <a:r>
              <a:rPr lang="en-US" sz="1200" b="1"/>
              <a:t>CRITICAL :</a:t>
            </a:r>
            <a:endParaRPr lang="en-US" sz="1200" b="1"/>
          </a:p>
          <a:p>
            <a:pPr marL="285115" indent="-285115">
              <a:buFont typeface="Wingdings" panose="05000000000000000000" charset="0"/>
              <a:buChar char="Ø"/>
            </a:pPr>
            <a:r>
              <a:rPr lang="en-US" altLang="en-US" sz="1200"/>
              <a:t>DEC, Kum-10jt Cross Up Selling untuk relasi” yg sdh ada pengambilan atau pun belum ada pengambilan, dengan Peningkatan coverage ke channel Pharmacy.</a:t>
            </a:r>
            <a:endParaRPr lang="en-US" altLang="en-US" sz="1200"/>
          </a:p>
          <a:p>
            <a:pPr marL="285115" indent="-285115">
              <a:buFont typeface="Wingdings" panose="05000000000000000000" charset="0"/>
              <a:buChar char="Ø"/>
            </a:pPr>
            <a:r>
              <a:rPr lang="en-US" altLang="en-US" sz="1200"/>
              <a:t>ACP, -215jt Loss Sales dari Combi -93jt, Alida P. Jaya -11jt</a:t>
            </a:r>
            <a:endParaRPr lang="en-US" altLang="en-US" sz="1200"/>
          </a:p>
        </p:txBody>
      </p:sp>
      <p:sp>
        <p:nvSpPr>
          <p:cNvPr id="4" name="Text Box 3"/>
          <p:cNvSpPr txBox="1"/>
          <p:nvPr/>
        </p:nvSpPr>
        <p:spPr>
          <a:xfrm>
            <a:off x="6908800" y="3523615"/>
            <a:ext cx="2435225" cy="229870"/>
          </a:xfrm>
          <a:prstGeom prst="rect">
            <a:avLst/>
          </a:prstGeom>
          <a:solidFill>
            <a:srgbClr val="FFFF00"/>
          </a:solidFill>
        </p:spPr>
        <p:txBody>
          <a:bodyPr wrap="square" rtlCol="0">
            <a:spAutoFit/>
          </a:bodyPr>
          <a:p>
            <a:pPr algn="ctr"/>
            <a:r>
              <a:rPr lang="en-US" sz="900"/>
              <a:t>A/T &lt;100%</a:t>
            </a:r>
            <a:endParaRPr lang="en-US" sz="900"/>
          </a:p>
        </p:txBody>
      </p:sp>
      <p:sp>
        <p:nvSpPr>
          <p:cNvPr id="5" name="Text Box 4"/>
          <p:cNvSpPr txBox="1"/>
          <p:nvPr/>
        </p:nvSpPr>
        <p:spPr>
          <a:xfrm>
            <a:off x="9344025" y="3523615"/>
            <a:ext cx="2434590" cy="229870"/>
          </a:xfrm>
          <a:prstGeom prst="rect">
            <a:avLst/>
          </a:prstGeom>
          <a:solidFill>
            <a:srgbClr val="92D050"/>
          </a:solidFill>
        </p:spPr>
        <p:txBody>
          <a:bodyPr wrap="square" rtlCol="0">
            <a:spAutoFit/>
          </a:bodyPr>
          <a:p>
            <a:pPr algn="ctr"/>
            <a:r>
              <a:rPr lang="en-US" sz="900"/>
              <a:t>A/T &gt;100%</a:t>
            </a:r>
            <a:endParaRPr lang="en-US" sz="900"/>
          </a:p>
        </p:txBody>
      </p:sp>
      <p:sp>
        <p:nvSpPr>
          <p:cNvPr id="6" name="Text Box 5"/>
          <p:cNvSpPr txBox="1"/>
          <p:nvPr/>
        </p:nvSpPr>
        <p:spPr>
          <a:xfrm rot="16200000">
            <a:off x="10963275" y="1298575"/>
            <a:ext cx="1767840" cy="167005"/>
          </a:xfrm>
          <a:prstGeom prst="rect">
            <a:avLst/>
          </a:prstGeom>
          <a:solidFill>
            <a:srgbClr val="92D050"/>
          </a:solidFill>
        </p:spPr>
        <p:txBody>
          <a:bodyPr vert="eaVert" wrap="square" rtlCol="0">
            <a:noAutofit/>
          </a:bodyPr>
          <a:p>
            <a:pPr algn="ctr"/>
            <a:r>
              <a:rPr lang="en-US" sz="900"/>
              <a:t>GRW&gt; </a:t>
            </a:r>
            <a:endParaRPr lang="en-US" sz="900"/>
          </a:p>
          <a:p>
            <a:pPr algn="ctr"/>
            <a:r>
              <a:rPr lang="en-US" sz="900"/>
              <a:t>100%</a:t>
            </a:r>
            <a:endParaRPr lang="en-US" sz="900"/>
          </a:p>
        </p:txBody>
      </p:sp>
      <p:sp>
        <p:nvSpPr>
          <p:cNvPr id="8" name="Text Box 7"/>
          <p:cNvSpPr txBox="1"/>
          <p:nvPr/>
        </p:nvSpPr>
        <p:spPr>
          <a:xfrm rot="16200000">
            <a:off x="11210290" y="2817495"/>
            <a:ext cx="1271270" cy="167005"/>
          </a:xfrm>
          <a:prstGeom prst="rect">
            <a:avLst/>
          </a:prstGeom>
          <a:solidFill>
            <a:srgbClr val="FFFF00"/>
          </a:solidFill>
        </p:spPr>
        <p:txBody>
          <a:bodyPr vert="eaVert" wrap="square" rtlCol="0">
            <a:noAutofit/>
          </a:bodyPr>
          <a:p>
            <a:pPr algn="ctr"/>
            <a:r>
              <a:rPr lang="en-US" sz="900"/>
              <a:t>GRW&lt;100%</a:t>
            </a:r>
            <a:endParaRPr lang="en-US" sz="900"/>
          </a:p>
        </p:txBody>
      </p:sp>
      <p:cxnSp>
        <p:nvCxnSpPr>
          <p:cNvPr id="14" name="Straight Connector 13"/>
          <p:cNvCxnSpPr/>
          <p:nvPr/>
        </p:nvCxnSpPr>
        <p:spPr>
          <a:xfrm>
            <a:off x="5979160" y="3920490"/>
            <a:ext cx="0" cy="2759075"/>
          </a:xfrm>
          <a:prstGeom prst="line">
            <a:avLst/>
          </a:prstGeom>
        </p:spPr>
        <p:style>
          <a:lnRef idx="2">
            <a:schemeClr val="accent1"/>
          </a:lnRef>
          <a:fillRef idx="0">
            <a:srgbClr val="FFFFFF"/>
          </a:fillRef>
          <a:effectRef idx="0">
            <a:srgbClr val="FFFFFF"/>
          </a:effectRef>
          <a:fontRef idx="minor">
            <a:schemeClr val="tx1"/>
          </a:fontRef>
        </p:style>
      </p:cxnSp>
      <p:cxnSp>
        <p:nvCxnSpPr>
          <p:cNvPr id="15" name="Straight Connector 14"/>
          <p:cNvCxnSpPr/>
          <p:nvPr/>
        </p:nvCxnSpPr>
        <p:spPr>
          <a:xfrm flipH="1">
            <a:off x="62865" y="4826635"/>
            <a:ext cx="5906135" cy="0"/>
          </a:xfrm>
          <a:prstGeom prst="line">
            <a:avLst/>
          </a:prstGeom>
        </p:spPr>
        <p:style>
          <a:lnRef idx="2">
            <a:schemeClr val="accent1"/>
          </a:lnRef>
          <a:fillRef idx="0">
            <a:srgbClr val="FFFFFF"/>
          </a:fillRef>
          <a:effectRef idx="0">
            <a:srgbClr val="FFFFFF"/>
          </a:effectRef>
          <a:fontRef idx="minor">
            <a:schemeClr val="tx1"/>
          </a:fontRef>
        </p:style>
      </p:cxnSp>
      <p:sp>
        <p:nvSpPr>
          <p:cNvPr id="16" name="Text Box 15"/>
          <p:cNvSpPr txBox="1"/>
          <p:nvPr/>
        </p:nvSpPr>
        <p:spPr>
          <a:xfrm>
            <a:off x="6104890" y="3920490"/>
            <a:ext cx="6009005" cy="2760980"/>
          </a:xfrm>
          <a:prstGeom prst="rect">
            <a:avLst/>
          </a:prstGeom>
        </p:spPr>
        <p:style>
          <a:lnRef idx="2">
            <a:schemeClr val="accent1"/>
          </a:lnRef>
          <a:fillRef idx="0">
            <a:srgbClr val="FFFFFF"/>
          </a:fillRef>
          <a:effectRef idx="0">
            <a:srgbClr val="FFFFFF"/>
          </a:effectRef>
          <a:fontRef idx="minor">
            <a:schemeClr val="tx1"/>
          </a:fontRef>
        </p:style>
        <p:txBody>
          <a:bodyPr wrap="square" rtlCol="0">
            <a:noAutofit/>
          </a:bodyPr>
          <a:p>
            <a:r>
              <a:rPr lang="en-US" sz="900" b="1"/>
              <a:t>Positif Grw, A/T 90% &lt; 100% :</a:t>
            </a:r>
            <a:endParaRPr lang="en-US" sz="900" b="1"/>
          </a:p>
          <a:p>
            <a:pPr marL="285115" indent="-285115">
              <a:buFont typeface="Wingdings" panose="05000000000000000000" charset="0"/>
              <a:buChar char="Ø"/>
            </a:pPr>
            <a:r>
              <a:rPr lang="en-US" altLang="en-US" sz="900"/>
              <a:t>NHS, kum -100jt, penurunan terbesar dari Heka apt  -76jt vs avg 26, Hasan Sadikin -69jt. Issue utama karena perubahan disc menjadi netto, </a:t>
            </a:r>
            <a:r>
              <a:rPr lang="en-US" altLang="en-US" sz="900" b="1" u="sng"/>
              <a:t>Perbaikan</a:t>
            </a:r>
            <a:r>
              <a:rPr lang="en-US" altLang="en-US" sz="900"/>
              <a:t> Maksimalkan recovery untuk Heka apt &gt;30jt, Hasan Sadikin 25jt, Advent RS Apt &gt;15jt. dan recovery untuk  item boost optimum 400 di outlet” yg turun.</a:t>
            </a:r>
            <a:endParaRPr lang="en-US" altLang="en-US" sz="900"/>
          </a:p>
          <a:p>
            <a:pPr marL="285115" indent="-285115">
              <a:buFont typeface="Wingdings" panose="05000000000000000000" charset="0"/>
              <a:buChar char="Ø"/>
            </a:pPr>
            <a:r>
              <a:rPr lang="en-US" altLang="en-US" sz="900"/>
              <a:t>NLI, kum -30jt, Kontribusi minus dari Gramedia Bandung Paris Van Java -7jt, Perintis apt -7jt, Gramedia Asri Media -4jt, dan prima apt -3jt dan produk yg turun dari fisherman mandarin ginger -9jt, fisherman choco mentho mint -5jt, dan fisherman sf original -5jt. </a:t>
            </a:r>
            <a:r>
              <a:rPr lang="en-US" altLang="en-US" sz="900" b="1" u="sng"/>
              <a:t>Perbaikan</a:t>
            </a:r>
            <a:r>
              <a:rPr lang="en-US" altLang="en-US" sz="900"/>
              <a:t> untuk relasi penyumbang minus terbesar khususnya untuk NKA lakukan detailing stock checking di toko untuk stock yg limit dan habis, dan Replace Produk yg minus di apt dgn push sales produk yg fast moving.</a:t>
            </a:r>
            <a:endParaRPr lang="en-US" altLang="en-US" sz="900"/>
          </a:p>
          <a:p>
            <a:pPr marL="285115" indent="-285115">
              <a:buFont typeface="Wingdings" panose="05000000000000000000" charset="0"/>
              <a:buChar char="Ø"/>
            </a:pPr>
            <a:r>
              <a:rPr lang="en-US" altLang="en-US" sz="900"/>
              <a:t>SSW, kum - 11jt, Kontribusi minus terbesar dari NKA (AEON Paris Van Java, Gramedia Asri Media, Azko Bdg Lp Bandung, Gramedia Festival City Link -25jt) Loss Produk dari  GG Hot -3jt, Fliptop  Orange, Raspberry, Anisemint, Blueberry -7jt. </a:t>
            </a:r>
            <a:r>
              <a:rPr lang="en-US" altLang="en-US" sz="900" b="1" u="sng"/>
              <a:t>Perbaikan</a:t>
            </a:r>
            <a:r>
              <a:rPr lang="en-US" altLang="en-US" sz="900"/>
              <a:t> Push untuk Pareto Yogya Group dan impelementasi untuk program rafaksi. dan jaga trend positif untuk relasi loyal Papaya Fresh Galery, Prima Kemuning dll, dan kejar untuk recovery transaksi relasi” pasive.</a:t>
            </a:r>
            <a:endParaRPr lang="en-US" altLang="en-US" sz="900"/>
          </a:p>
          <a:p>
            <a:pPr marL="285115" indent="-285115">
              <a:buFont typeface="Wingdings" panose="05000000000000000000" charset="0"/>
              <a:buChar char="Ø"/>
            </a:pPr>
            <a:r>
              <a:rPr lang="en-US" altLang="en-US" sz="900"/>
              <a:t>YOU, kum -43jt, Kontribusi minus terbesari dari Mama Mateo, Alfamart DC Bandung, Gramedia Asri, dan Gramedia  Festival City link  total rata” loss -64jt, dan by Loss Product Youvit Adult 30s -17jt, Omega Kids -12jt, Youvit Adult 6s -12jt, Kids 30s -9jt, Beauty Plus -8jt. </a:t>
            </a:r>
            <a:r>
              <a:rPr lang="en-US" altLang="en-US" sz="900" b="1" u="sng"/>
              <a:t>Perbaikan </a:t>
            </a:r>
            <a:r>
              <a:rPr lang="en-US" altLang="en-US" sz="900"/>
              <a:t>Propose Program tambahan untuk mama mateo (support tambahan disc, gimmick, rafaksi dll), dan Push untuk  Pareto KDE untuk program yg berjalan.</a:t>
            </a:r>
            <a:endParaRPr lang="en-US" altLang="en-US" sz="900" b="1"/>
          </a:p>
        </p:txBody>
      </p:sp>
      <p:sp>
        <p:nvSpPr>
          <p:cNvPr id="17" name="Text Box 16"/>
          <p:cNvSpPr txBox="1"/>
          <p:nvPr/>
        </p:nvSpPr>
        <p:spPr>
          <a:xfrm>
            <a:off x="7600950" y="129540"/>
            <a:ext cx="3569335" cy="337185"/>
          </a:xfrm>
          <a:prstGeom prst="rect">
            <a:avLst/>
          </a:prstGeom>
          <a:noFill/>
        </p:spPr>
        <p:txBody>
          <a:bodyPr wrap="square" rtlCol="0">
            <a:spAutoFit/>
          </a:bodyPr>
          <a:p>
            <a:pPr algn="l"/>
            <a:r>
              <a:rPr lang="en-US" sz="1600"/>
              <a:t>Kum POT Position 2026</a:t>
            </a:r>
            <a:endParaRPr lang="en-US" sz="1600"/>
          </a:p>
        </p:txBody>
      </p:sp>
      <p:pic>
        <p:nvPicPr>
          <p:cNvPr id="3" name="Picture 2"/>
          <p:cNvPicPr>
            <a:picLocks noChangeAspect="1"/>
          </p:cNvPicPr>
          <p:nvPr/>
        </p:nvPicPr>
        <p:blipFill>
          <a:blip r:embed="rId1"/>
          <a:stretch>
            <a:fillRect/>
          </a:stretch>
        </p:blipFill>
        <p:spPr>
          <a:xfrm>
            <a:off x="62865" y="497840"/>
            <a:ext cx="6367780" cy="3275330"/>
          </a:xfrm>
          <a:prstGeom prst="rect">
            <a:avLst/>
          </a:prstGeom>
        </p:spPr>
      </p:pic>
      <p:pic>
        <p:nvPicPr>
          <p:cNvPr id="7" name="Picture 6"/>
          <p:cNvPicPr>
            <a:picLocks noChangeAspect="1"/>
          </p:cNvPicPr>
          <p:nvPr/>
        </p:nvPicPr>
        <p:blipFill>
          <a:blip r:embed="rId2"/>
          <a:stretch>
            <a:fillRect/>
          </a:stretch>
        </p:blipFill>
        <p:spPr>
          <a:xfrm>
            <a:off x="6430645" y="340995"/>
            <a:ext cx="5551170" cy="33877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Google Shape;58;p14"/>
          <p:cNvSpPr txBox="1"/>
          <p:nvPr/>
        </p:nvSpPr>
        <p:spPr>
          <a:xfrm>
            <a:off x="84455" y="123190"/>
            <a:ext cx="4302125" cy="390525"/>
          </a:xfrm>
          <a:prstGeom prst="rect">
            <a:avLst/>
          </a:prstGeom>
          <a:noFill/>
          <a:ln>
            <a:noFill/>
          </a:ln>
        </p:spPr>
        <p:txBody>
          <a:bodyPr spcFirstLastPara="1" wrap="square" lIns="91425" tIns="91425" rIns="91425" bIns="91425" anchor="t" anchorCtr="0">
            <a:spAutoFit/>
          </a:bodyPr>
          <a:p>
            <a:pPr marL="0" lvl="0" indent="0" algn="l" rtl="0">
              <a:lnSpc>
                <a:spcPct val="85000"/>
              </a:lnSpc>
              <a:spcBef>
                <a:spcPts val="0"/>
              </a:spcBef>
              <a:spcAft>
                <a:spcPts val="0"/>
              </a:spcAft>
              <a:buNone/>
            </a:pPr>
            <a:r>
              <a:rPr lang="en-US" altLang="en-US" sz="1600" dirty="0">
                <a:solidFill>
                  <a:srgbClr val="2C67AD"/>
                </a:solidFill>
                <a:latin typeface="Nunito Black"/>
                <a:ea typeface="Nunito Black"/>
                <a:cs typeface="Nunito Black"/>
                <a:sym typeface="Nunito Black"/>
              </a:rPr>
              <a:t>3. BEST BRANCH 2026 </a:t>
            </a:r>
            <a:endParaRPr lang="en-US" altLang="en-US" sz="1600" dirty="0">
              <a:solidFill>
                <a:srgbClr val="2C67AD"/>
              </a:solidFill>
              <a:latin typeface="Nunito Black"/>
              <a:ea typeface="Nunito Black"/>
              <a:cs typeface="Nunito Black"/>
              <a:sym typeface="Nunito Black"/>
            </a:endParaRPr>
          </a:p>
        </p:txBody>
      </p:sp>
      <p:sp>
        <p:nvSpPr>
          <p:cNvPr id="10" name="Text Box 9"/>
          <p:cNvSpPr txBox="1"/>
          <p:nvPr/>
        </p:nvSpPr>
        <p:spPr>
          <a:xfrm>
            <a:off x="8999855" y="1781810"/>
            <a:ext cx="3016885" cy="593090"/>
          </a:xfrm>
          <a:prstGeom prst="rect">
            <a:avLst/>
          </a:prstGeom>
          <a:gradFill>
            <a:gsLst>
              <a:gs pos="0">
                <a:schemeClr val="accent1">
                  <a:lumMod val="5000"/>
                  <a:lumOff val="95000"/>
                </a:schemeClr>
              </a:gs>
              <a:gs pos="38000">
                <a:srgbClr val="D2DAE4">
                  <a:alpha val="100000"/>
                </a:srgbClr>
              </a:gs>
              <a:gs pos="100000">
                <a:schemeClr val="tx2">
                  <a:lumMod val="40000"/>
                  <a:lumOff val="60000"/>
                </a:schemeClr>
              </a:gs>
            </a:gsLst>
            <a:lin ang="5400000" scaled="0"/>
          </a:gradFill>
          <a:ln>
            <a:solidFill>
              <a:schemeClr val="accent5">
                <a:lumMod val="75000"/>
              </a:schemeClr>
            </a:solidFill>
          </a:ln>
          <a:effectLst>
            <a:outerShdw blurRad="50800" dist="38100" dir="13500000" algn="br" rotWithShape="0">
              <a:prstClr val="black">
                <a:alpha val="40000"/>
              </a:prstClr>
            </a:outerShdw>
          </a:effectLst>
        </p:spPr>
        <p:style>
          <a:lnRef idx="2">
            <a:schemeClr val="accent1"/>
          </a:lnRef>
          <a:fillRef idx="0">
            <a:srgbClr val="FFFFFF"/>
          </a:fillRef>
          <a:effectRef idx="0">
            <a:srgbClr val="FFFFFF"/>
          </a:effectRef>
          <a:fontRef idx="minor">
            <a:schemeClr val="tx1"/>
          </a:fontRef>
        </p:style>
        <p:txBody>
          <a:bodyPr wrap="square" rtlCol="0">
            <a:noAutofit/>
          </a:bodyPr>
          <a:p>
            <a:pPr marL="285750" indent="-285750">
              <a:buFont typeface="Wingdings" panose="05000000000000000000" charset="0"/>
              <a:buChar char=""/>
            </a:pPr>
            <a:r>
              <a:rPr lang="en-US" altLang="en-US" sz="1200"/>
              <a:t>A/T CHP 190%, Surplus 2.6M</a:t>
            </a:r>
            <a:endParaRPr lang="en-US" altLang="en-US" sz="1200"/>
          </a:p>
          <a:p>
            <a:pPr indent="0">
              <a:buFont typeface="Wingdings" panose="05000000000000000000" charset="0"/>
              <a:buNone/>
            </a:pPr>
            <a:r>
              <a:rPr lang="en-US" altLang="en-US" sz="1200"/>
              <a:t>Est. Agt 101% </a:t>
            </a:r>
            <a:endParaRPr lang="en-US" altLang="en-US" sz="1200"/>
          </a:p>
          <a:p>
            <a:pPr indent="0">
              <a:buFont typeface="Wingdings" panose="05000000000000000000" charset="0"/>
              <a:buNone/>
            </a:pPr>
            <a:endParaRPr lang="en-US" altLang="en-US" sz="1200"/>
          </a:p>
        </p:txBody>
      </p:sp>
      <p:sp>
        <p:nvSpPr>
          <p:cNvPr id="4" name="Text Box 3"/>
          <p:cNvSpPr txBox="1"/>
          <p:nvPr/>
        </p:nvSpPr>
        <p:spPr>
          <a:xfrm>
            <a:off x="9000490" y="2588895"/>
            <a:ext cx="3016885" cy="593090"/>
          </a:xfrm>
          <a:prstGeom prst="rect">
            <a:avLst/>
          </a:prstGeom>
          <a:gradFill>
            <a:gsLst>
              <a:gs pos="0">
                <a:schemeClr val="accent1">
                  <a:lumMod val="5000"/>
                  <a:lumOff val="95000"/>
                </a:schemeClr>
              </a:gs>
              <a:gs pos="38000">
                <a:srgbClr val="D2DAE4">
                  <a:alpha val="100000"/>
                </a:srgbClr>
              </a:gs>
              <a:gs pos="100000">
                <a:schemeClr val="tx2">
                  <a:lumMod val="40000"/>
                  <a:lumOff val="60000"/>
                </a:schemeClr>
              </a:gs>
            </a:gsLst>
            <a:lin ang="5400000" scaled="0"/>
          </a:gradFill>
          <a:ln>
            <a:solidFill>
              <a:schemeClr val="accent5">
                <a:lumMod val="75000"/>
              </a:schemeClr>
            </a:solidFill>
          </a:ln>
          <a:effectLst>
            <a:outerShdw blurRad="50800" dist="38100" dir="13500000" algn="br" rotWithShape="0">
              <a:prstClr val="black">
                <a:alpha val="40000"/>
              </a:prstClr>
            </a:outerShdw>
          </a:effectLst>
        </p:spPr>
        <p:style>
          <a:lnRef idx="2">
            <a:schemeClr val="accent1"/>
          </a:lnRef>
          <a:fillRef idx="0">
            <a:srgbClr val="FFFFFF"/>
          </a:fillRef>
          <a:effectRef idx="0">
            <a:srgbClr val="FFFFFF"/>
          </a:effectRef>
          <a:fontRef idx="minor">
            <a:schemeClr val="tx1"/>
          </a:fontRef>
        </p:style>
        <p:txBody>
          <a:bodyPr wrap="square" rtlCol="0">
            <a:noAutofit/>
          </a:bodyPr>
          <a:p>
            <a:pPr marL="266065" indent="-236855">
              <a:buFont typeface="Wingdings" panose="05000000000000000000" charset="0"/>
              <a:buChar char=""/>
            </a:pPr>
            <a:r>
              <a:rPr lang="en-US" altLang="en-US" sz="1200"/>
              <a:t>A/T CHW 112%, Surplus 313jt,  </a:t>
            </a:r>
            <a:endParaRPr lang="en-US" altLang="en-US" sz="1200"/>
          </a:p>
          <a:p>
            <a:pPr marL="29210" indent="0">
              <a:buFont typeface="Wingdings" panose="05000000000000000000" charset="0"/>
              <a:buNone/>
            </a:pPr>
            <a:r>
              <a:rPr lang="en-US" altLang="en-US" sz="1200"/>
              <a:t>Est. Agt 26 500jt 128%</a:t>
            </a:r>
            <a:endParaRPr lang="en-US" altLang="en-US" sz="1200"/>
          </a:p>
        </p:txBody>
      </p:sp>
      <p:sp>
        <p:nvSpPr>
          <p:cNvPr id="5" name="Text Box 4"/>
          <p:cNvSpPr txBox="1"/>
          <p:nvPr/>
        </p:nvSpPr>
        <p:spPr>
          <a:xfrm>
            <a:off x="9000490" y="3456940"/>
            <a:ext cx="3016885" cy="1390015"/>
          </a:xfrm>
          <a:prstGeom prst="rect">
            <a:avLst/>
          </a:prstGeom>
          <a:gradFill>
            <a:gsLst>
              <a:gs pos="0">
                <a:schemeClr val="accent1">
                  <a:lumMod val="5000"/>
                  <a:lumOff val="95000"/>
                </a:schemeClr>
              </a:gs>
              <a:gs pos="38000">
                <a:srgbClr val="D2DAE4">
                  <a:alpha val="100000"/>
                </a:srgbClr>
              </a:gs>
              <a:gs pos="100000">
                <a:schemeClr val="tx2">
                  <a:lumMod val="40000"/>
                  <a:lumOff val="60000"/>
                </a:schemeClr>
              </a:gs>
            </a:gsLst>
            <a:lin ang="5400000" scaled="0"/>
          </a:gradFill>
          <a:ln>
            <a:solidFill>
              <a:schemeClr val="accent5">
                <a:lumMod val="75000"/>
              </a:schemeClr>
            </a:solidFill>
          </a:ln>
          <a:effectLst>
            <a:outerShdw blurRad="50800" dist="38100" dir="13500000" algn="br" rotWithShape="0">
              <a:prstClr val="black">
                <a:alpha val="40000"/>
              </a:prstClr>
            </a:outerShdw>
          </a:effectLst>
        </p:spPr>
        <p:style>
          <a:lnRef idx="2">
            <a:schemeClr val="accent1"/>
          </a:lnRef>
          <a:fillRef idx="0">
            <a:srgbClr val="FFFFFF"/>
          </a:fillRef>
          <a:effectRef idx="0">
            <a:srgbClr val="FFFFFF"/>
          </a:effectRef>
          <a:fontRef idx="minor">
            <a:schemeClr val="tx1"/>
          </a:fontRef>
        </p:style>
        <p:txBody>
          <a:bodyPr wrap="square" rtlCol="0">
            <a:noAutofit/>
          </a:bodyPr>
          <a:p>
            <a:pPr marL="285750" indent="-285115">
              <a:buFont typeface="Wingdings" panose="05000000000000000000" charset="0"/>
              <a:buChar char=""/>
            </a:pPr>
            <a:r>
              <a:rPr lang="en-US" altLang="en-US" sz="1100"/>
              <a:t>Kum POT 9 , </a:t>
            </a:r>
            <a:endParaRPr lang="en-US" altLang="en-US" sz="1100"/>
          </a:p>
          <a:p>
            <a:pPr marL="635" indent="0">
              <a:buFont typeface="Wingdings" panose="05000000000000000000" charset="0"/>
              <a:buNone/>
            </a:pPr>
            <a:r>
              <a:rPr lang="en-US" altLang="en-US" sz="1100"/>
              <a:t>Est. Tamb. POT AGT SSW, TOTAL 10 POT</a:t>
            </a:r>
            <a:endParaRPr lang="en-US" altLang="en-US" sz="1100"/>
          </a:p>
          <a:p>
            <a:pPr indent="0">
              <a:buFont typeface="Wingdings" panose="05000000000000000000" charset="0"/>
              <a:buNone/>
            </a:pPr>
            <a:endParaRPr lang="en-US" altLang="en-US" sz="1100"/>
          </a:p>
          <a:p>
            <a:pPr indent="0">
              <a:buFont typeface="Wingdings" panose="05000000000000000000" charset="0"/>
              <a:buNone/>
            </a:pPr>
            <a:r>
              <a:rPr lang="en-US" altLang="en-US" sz="1100"/>
              <a:t>Recovery POT  1 Quartal SSW -11, NLI -30jt, YOU -43, NHS -100 Estimasi 13 POT</a:t>
            </a:r>
            <a:endParaRPr lang="en-US" altLang="en-US" sz="1100"/>
          </a:p>
          <a:p>
            <a:pPr indent="0">
              <a:buFont typeface="Wingdings" panose="05000000000000000000" charset="0"/>
              <a:buNone/>
            </a:pPr>
            <a:endParaRPr lang="en-US" altLang="en-US" sz="1100"/>
          </a:p>
          <a:p>
            <a:pPr indent="0">
              <a:buFont typeface="Wingdings" panose="05000000000000000000" charset="0"/>
              <a:buNone/>
            </a:pPr>
            <a:r>
              <a:rPr lang="en-US" altLang="en-US" sz="1100"/>
              <a:t>Challanging POT MCS -100, SRS - 30 &gt; UP TO 15 pot </a:t>
            </a:r>
            <a:endParaRPr lang="en-US" altLang="en-US" sz="1100"/>
          </a:p>
        </p:txBody>
      </p:sp>
      <p:pic>
        <p:nvPicPr>
          <p:cNvPr id="9" name="Picture 8"/>
          <p:cNvPicPr>
            <a:picLocks noChangeAspect="1"/>
          </p:cNvPicPr>
          <p:nvPr/>
        </p:nvPicPr>
        <p:blipFill>
          <a:blip r:embed="rId1"/>
          <a:stretch>
            <a:fillRect/>
          </a:stretch>
        </p:blipFill>
        <p:spPr>
          <a:xfrm>
            <a:off x="215900" y="5189220"/>
            <a:ext cx="3837940" cy="1598930"/>
          </a:xfrm>
          <a:prstGeom prst="rect">
            <a:avLst/>
          </a:prstGeom>
        </p:spPr>
      </p:pic>
      <p:pic>
        <p:nvPicPr>
          <p:cNvPr id="14" name="Picture 13"/>
          <p:cNvPicPr>
            <a:picLocks noChangeAspect="1"/>
          </p:cNvPicPr>
          <p:nvPr/>
        </p:nvPicPr>
        <p:blipFill>
          <a:blip r:embed="rId2"/>
          <a:stretch>
            <a:fillRect/>
          </a:stretch>
        </p:blipFill>
        <p:spPr>
          <a:xfrm>
            <a:off x="84455" y="449580"/>
            <a:ext cx="8756015" cy="4649470"/>
          </a:xfrm>
          <a:prstGeom prst="rect">
            <a:avLst/>
          </a:prstGeom>
        </p:spPr>
      </p:pic>
      <p:pic>
        <p:nvPicPr>
          <p:cNvPr id="16" name="Picture 15"/>
          <p:cNvPicPr>
            <a:picLocks noChangeAspect="1"/>
          </p:cNvPicPr>
          <p:nvPr/>
        </p:nvPicPr>
        <p:blipFill>
          <a:blip r:embed="rId3"/>
          <a:stretch>
            <a:fillRect/>
          </a:stretch>
        </p:blipFill>
        <p:spPr>
          <a:xfrm>
            <a:off x="4192270" y="5189220"/>
            <a:ext cx="7825105" cy="12992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94310" y="1908810"/>
            <a:ext cx="3176905" cy="2143125"/>
          </a:xfrm>
          <a:prstGeom prst="rect">
            <a:avLst/>
          </a:prstGeom>
        </p:spPr>
      </p:pic>
      <p:sp>
        <p:nvSpPr>
          <p:cNvPr id="6" name="Google Shape;48;p13"/>
          <p:cNvSpPr txBox="1"/>
          <p:nvPr/>
        </p:nvSpPr>
        <p:spPr>
          <a:xfrm>
            <a:off x="3020332" y="2594339"/>
            <a:ext cx="6615117" cy="1063625"/>
          </a:xfrm>
          <a:prstGeom prst="rect">
            <a:avLst/>
          </a:prstGeom>
          <a:noFill/>
          <a:ln>
            <a:noFill/>
          </a:ln>
        </p:spPr>
        <p:txBody>
          <a:bodyPr spcFirstLastPara="1" wrap="square" lIns="179175" tIns="179175" rIns="179175" bIns="179175" anchor="t" anchorCtr="0">
            <a:spAutoFit/>
          </a:bodyPr>
          <a:lstStyle/>
          <a:p>
            <a:pPr marL="0" lvl="0" indent="0" algn="l" rtl="0">
              <a:lnSpc>
                <a:spcPct val="85000"/>
              </a:lnSpc>
              <a:spcBef>
                <a:spcPts val="0"/>
              </a:spcBef>
              <a:spcAft>
                <a:spcPts val="0"/>
              </a:spcAft>
              <a:buNone/>
            </a:pPr>
            <a:r>
              <a:rPr lang="en-GB" sz="5400" dirty="0" smtClean="0">
                <a:solidFill>
                  <a:srgbClr val="D93832"/>
                </a:solidFill>
                <a:latin typeface="Nunito ExtraBold"/>
                <a:ea typeface="Nunito ExtraBold"/>
                <a:cs typeface="Nunito ExtraBold"/>
                <a:sym typeface="Nunito ExtraBold"/>
              </a:rPr>
              <a:t>erima Kasih</a:t>
            </a:r>
            <a:endParaRPr sz="5400" dirty="0">
              <a:solidFill>
                <a:srgbClr val="D93832"/>
              </a:solidFill>
              <a:latin typeface="Nunito ExtraBold"/>
              <a:ea typeface="Nunito ExtraBold"/>
              <a:cs typeface="Nunito ExtraBold"/>
              <a:sym typeface="Nunito ExtraBo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3097</Words>
  <Application>WPS Presentation</Application>
  <PresentationFormat>Widescreen</PresentationFormat>
  <Paragraphs>61</Paragraphs>
  <Slides>6</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6</vt:i4>
      </vt:variant>
    </vt:vector>
  </HeadingPairs>
  <TitlesOfParts>
    <vt:vector size="22" baseType="lpstr">
      <vt:lpstr>Arial</vt:lpstr>
      <vt:lpstr>SimSun</vt:lpstr>
      <vt:lpstr>Wingdings</vt:lpstr>
      <vt:lpstr>Nunito ExtraBold</vt:lpstr>
      <vt:lpstr>Thonburi</vt:lpstr>
      <vt:lpstr>Nunito</vt:lpstr>
      <vt:lpstr>Nunito Black</vt:lpstr>
      <vt:lpstr>Wingdings</vt:lpstr>
      <vt:lpstr>Microsoft YaHei</vt:lpstr>
      <vt:lpstr>汉仪旗黑</vt:lpstr>
      <vt:lpstr>Arial Unicode MS</vt:lpstr>
      <vt:lpstr>Calibri Light</vt:lpstr>
      <vt:lpstr>Helvetica Neue</vt:lpstr>
      <vt:lpstr>Calibri</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Deni Fahrizal</dc:creator>
  <cp:lastModifiedBy>FananRasyid</cp:lastModifiedBy>
  <cp:revision>141</cp:revision>
  <dcterms:created xsi:type="dcterms:W3CDTF">2026-08-19T05:01:09Z</dcterms:created>
  <dcterms:modified xsi:type="dcterms:W3CDTF">2026-08-19T05:01:09Z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8918CD0D59F5E9272FF6A86943FB8D83_43</vt:lpwstr>
  </property>
  <property fmtid="{D5CDD505-2E9C-101B-9397-08002B2CF9AE}" pid="3" name="KSOProductBuildVer">
    <vt:lpwstr>1033-6.12.2.8699</vt:lpwstr>
  </property>
</Properties>
</file>